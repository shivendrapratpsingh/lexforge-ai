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0183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1097280"/>
            <a:ext cx="2926080" cy="2926080"/>
          </a:xfrm>
          <a:prstGeom prst="ellipse">
            <a:avLst/>
          </a:prstGeom>
          <a:solidFill>
            <a:srgbClr val="112248">
              <a:alpha val="15000"/>
            </a:srgbClr>
          </a:solidFill>
          <a:ln w="1016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1463040"/>
            <a:ext cx="2194560" cy="2194560"/>
          </a:xfrm>
          <a:prstGeom prst="ellipse">
            <a:avLst/>
          </a:prstGeom>
          <a:solidFill>
            <a:srgbClr val="112248">
              <a:alpha val="10000"/>
            </a:srgbClr>
          </a:solidFill>
          <a:ln w="10160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828800"/>
            <a:ext cx="1463040" cy="1463040"/>
          </a:xfrm>
          <a:prstGeom prst="ellipse">
            <a:avLst/>
          </a:prstGeom>
          <a:solidFill>
            <a:srgbClr val="112248">
              <a:alpha val="5000"/>
            </a:srgbClr>
          </a:solidFill>
          <a:ln w="10160">
            <a:solidFill>
              <a:srgbClr val="C9A84C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0"/>
            <a:ext cx="3658" cy="5143500"/>
          </a:xfrm>
          <a:prstGeom prst="rect">
            <a:avLst/>
          </a:prstGeom>
          <a:solidFill>
            <a:srgbClr val="1A2E60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0"/>
            <a:ext cx="3658" cy="5143500"/>
          </a:xfrm>
          <a:prstGeom prst="rect">
            <a:avLst/>
          </a:prstGeom>
          <a:solidFill>
            <a:srgbClr val="1A2E60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276856" y="0"/>
            <a:ext cx="3658" cy="5143500"/>
          </a:xfrm>
          <a:prstGeom prst="rect">
            <a:avLst/>
          </a:prstGeom>
          <a:solidFill>
            <a:srgbClr val="1A2E60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035808" y="0"/>
            <a:ext cx="3658" cy="5143500"/>
          </a:xfrm>
          <a:prstGeom prst="rect">
            <a:avLst/>
          </a:prstGeom>
          <a:solidFill>
            <a:srgbClr val="1A2E60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794760" y="0"/>
            <a:ext cx="3658" cy="5143500"/>
          </a:xfrm>
          <a:prstGeom prst="rect">
            <a:avLst/>
          </a:prstGeom>
          <a:solidFill>
            <a:srgbClr val="1A2E60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53712" y="0"/>
            <a:ext cx="3658" cy="5143500"/>
          </a:xfrm>
          <a:prstGeom prst="rect">
            <a:avLst/>
          </a:prstGeom>
          <a:solidFill>
            <a:srgbClr val="1A2E60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312664" y="0"/>
            <a:ext cx="3658" cy="5143500"/>
          </a:xfrm>
          <a:prstGeom prst="rect">
            <a:avLst/>
          </a:prstGeom>
          <a:solidFill>
            <a:srgbClr val="1A2E60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071616" y="0"/>
            <a:ext cx="3658" cy="5143500"/>
          </a:xfrm>
          <a:prstGeom prst="rect">
            <a:avLst/>
          </a:prstGeom>
          <a:solidFill>
            <a:srgbClr val="1A2E60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830568" y="0"/>
            <a:ext cx="3658" cy="5143500"/>
          </a:xfrm>
          <a:prstGeom prst="rect">
            <a:avLst/>
          </a:prstGeom>
          <a:solidFill>
            <a:srgbClr val="1A2E60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0" y="0"/>
            <a:ext cx="3658" cy="5143500"/>
          </a:xfrm>
          <a:prstGeom prst="rect">
            <a:avLst/>
          </a:prstGeom>
          <a:solidFill>
            <a:srgbClr val="1A2E60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348472" y="0"/>
            <a:ext cx="3658" cy="5143500"/>
          </a:xfrm>
          <a:prstGeom prst="rect">
            <a:avLst/>
          </a:prstGeom>
          <a:solidFill>
            <a:srgbClr val="1A2E60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107424" y="0"/>
            <a:ext cx="3658" cy="5143500"/>
          </a:xfrm>
          <a:prstGeom prst="rect">
            <a:avLst/>
          </a:prstGeom>
          <a:solidFill>
            <a:srgbClr val="1A2E60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0"/>
            <a:ext cx="4846320" cy="5143500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18" name="Shape 16"/>
          <p:cNvSpPr/>
          <p:nvPr/>
        </p:nvSpPr>
        <p:spPr>
          <a:xfrm>
            <a:off x="4206240" y="0"/>
            <a:ext cx="640080" cy="5143500"/>
          </a:xfrm>
          <a:prstGeom prst="rect">
            <a:avLst/>
          </a:prstGeom>
          <a:solidFill>
            <a:srgbClr val="06102A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Shape 20"/>
          <p:cNvSpPr/>
          <p:nvPr/>
        </p:nvSpPr>
        <p:spPr>
          <a:xfrm>
            <a:off x="5394960" y="1847088"/>
            <a:ext cx="3474720" cy="73152"/>
          </a:xfrm>
          <a:prstGeom prst="rect">
            <a:avLst/>
          </a:prstGeom>
          <a:solidFill>
            <a:srgbClr val="C9A84C">
              <a:alpha val="75000"/>
            </a:srgbClr>
          </a:solidFill>
          <a:ln/>
          <a:effectLst>
            <a:outerShdw blurRad="254000" dist="50800" dir="16200000" algn="bl" rotWithShape="0">
              <a:srgbClr val="C9A84C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09460" y="1188720"/>
            <a:ext cx="45720" cy="2468880"/>
          </a:xfrm>
          <a:prstGeom prst="rect">
            <a:avLst/>
          </a:prstGeom>
          <a:solidFill>
            <a:srgbClr val="C9A84C">
              <a:alpha val="7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812280" y="3657600"/>
            <a:ext cx="640080" cy="73152"/>
          </a:xfrm>
          <a:prstGeom prst="rect">
            <a:avLst/>
          </a:prstGeom>
          <a:solidFill>
            <a:srgbClr val="C9A84C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967728" y="3657600"/>
            <a:ext cx="329184" cy="347472"/>
          </a:xfrm>
          <a:prstGeom prst="rect">
            <a:avLst/>
          </a:prstGeom>
          <a:solidFill>
            <a:srgbClr val="C9A84C">
              <a:alpha val="5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413248" y="1920240"/>
            <a:ext cx="36576" cy="658368"/>
          </a:xfrm>
          <a:prstGeom prst="rect">
            <a:avLst/>
          </a:prstGeom>
          <a:solidFill>
            <a:srgbClr val="C9A84C">
              <a:alpha val="5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814816" y="1920240"/>
            <a:ext cx="36576" cy="658368"/>
          </a:xfrm>
          <a:prstGeom prst="rect">
            <a:avLst/>
          </a:prstGeom>
          <a:solidFill>
            <a:srgbClr val="C9A84C">
              <a:alpha val="5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102352" y="2578608"/>
            <a:ext cx="658368" cy="54864"/>
          </a:xfrm>
          <a:prstGeom prst="rect">
            <a:avLst/>
          </a:prstGeom>
          <a:solidFill>
            <a:srgbClr val="C9A84C">
              <a:alpha val="72000"/>
            </a:srgbClr>
          </a:solidFill>
          <a:ln/>
          <a:effectLst>
            <a:outerShdw blurRad="254000" dist="50800" dir="16200000" algn="bl" rotWithShape="0">
              <a:srgbClr val="C9A84C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03920" y="2670048"/>
            <a:ext cx="658368" cy="54864"/>
          </a:xfrm>
          <a:prstGeom prst="rect">
            <a:avLst/>
          </a:prstGeom>
          <a:solidFill>
            <a:srgbClr val="C9A84C">
              <a:alpha val="72000"/>
            </a:srgbClr>
          </a:solidFill>
          <a:ln/>
          <a:effectLst>
            <a:outerShdw blurRad="254000" dist="50800" dir="16200000" algn="bl" rotWithShape="0">
              <a:srgbClr val="C9A84C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059168" y="1755648"/>
            <a:ext cx="146304" cy="146304"/>
          </a:xfrm>
          <a:prstGeom prst="ellipse">
            <a:avLst/>
          </a:prstGeom>
          <a:solidFill>
            <a:srgbClr val="C9A84C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760720" y="3566160"/>
            <a:ext cx="3108960" cy="274320"/>
          </a:xfrm>
          <a:prstGeom prst="rect">
            <a:avLst/>
          </a:prstGeom>
          <a:solidFill>
            <a:srgbClr val="1E3060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60720" y="3566160"/>
            <a:ext cx="73152" cy="274320"/>
          </a:xfrm>
          <a:prstGeom prst="rect">
            <a:avLst/>
          </a:prstGeom>
          <a:solidFill>
            <a:srgbClr val="C9A84C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760720" y="3566160"/>
            <a:ext cx="3108960" cy="27432"/>
          </a:xfrm>
          <a:prstGeom prst="rect">
            <a:avLst/>
          </a:prstGeom>
          <a:solidFill>
            <a:srgbClr val="C9A84C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760720" y="3822192"/>
            <a:ext cx="2834640" cy="219456"/>
          </a:xfrm>
          <a:prstGeom prst="rect">
            <a:avLst/>
          </a:prstGeom>
          <a:solidFill>
            <a:srgbClr val="172248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760720" y="3822192"/>
            <a:ext cx="73152" cy="219456"/>
          </a:xfrm>
          <a:prstGeom prst="rect">
            <a:avLst/>
          </a:prstGeom>
          <a:solidFill>
            <a:srgbClr val="C9A84C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760720" y="3822192"/>
            <a:ext cx="2834640" cy="27432"/>
          </a:xfrm>
          <a:prstGeom prst="rect">
            <a:avLst/>
          </a:prstGeom>
          <a:solidFill>
            <a:srgbClr val="C9A84C">
              <a:alpha val="5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60720" y="4133088"/>
            <a:ext cx="2926080" cy="246888"/>
          </a:xfrm>
          <a:prstGeom prst="rect">
            <a:avLst/>
          </a:prstGeom>
          <a:solidFill>
            <a:srgbClr val="1A2D5A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760720" y="4133088"/>
            <a:ext cx="73152" cy="246888"/>
          </a:xfrm>
          <a:prstGeom prst="rect">
            <a:avLst/>
          </a:prstGeom>
          <a:solidFill>
            <a:srgbClr val="C9A84C">
              <a:alpha val="6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60720" y="4133088"/>
            <a:ext cx="2926080" cy="27432"/>
          </a:xfrm>
          <a:prstGeom prst="rect">
            <a:avLst/>
          </a:prstGeom>
          <a:solidFill>
            <a:srgbClr val="C9A84C">
              <a:alpha val="5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566928"/>
            <a:ext cx="2377440" cy="310896"/>
          </a:xfrm>
          <a:prstGeom prst="rect">
            <a:avLst/>
          </a:prstGeom>
          <a:solidFill>
            <a:srgbClr val="C9A84C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02336" y="566928"/>
            <a:ext cx="2377440" cy="24689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2" name="Text 40"/>
          <p:cNvSpPr/>
          <p:nvPr/>
        </p:nvSpPr>
        <p:spPr>
          <a:xfrm>
            <a:off x="402336" y="5669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E8C96D"/>
                </a:solidFill>
              </a:rPr>
              <a:t>LEGAL EXCELLENCE SERIES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02336" y="10058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D8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402336" y="1353312"/>
            <a:ext cx="4114800" cy="822960"/>
          </a:xfrm>
          <a:prstGeom prst="rect">
            <a:avLst/>
          </a:prstGeom>
          <a:noFill/>
          <a:ln/>
          <a:effectLst>
            <a:outerShdw blurRad="254000" dist="50800" dir="16200000" algn="bl" rotWithShape="0">
              <a:srgbClr val="C9A84C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</a:t>
            </a:r>
            <a:endParaRPr lang="en-US" sz="6200" dirty="0"/>
          </a:p>
        </p:txBody>
      </p:sp>
      <p:sp>
        <p:nvSpPr>
          <p:cNvPr id="45" name="Text 43"/>
          <p:cNvSpPr/>
          <p:nvPr/>
        </p:nvSpPr>
        <p:spPr>
          <a:xfrm>
            <a:off x="402336" y="21031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</a:t>
            </a:r>
            <a:endParaRPr lang="en-US" sz="3600" dirty="0"/>
          </a:p>
        </p:txBody>
      </p:sp>
      <p:sp>
        <p:nvSpPr>
          <p:cNvPr id="46" name="Shape 44"/>
          <p:cNvSpPr/>
          <p:nvPr/>
        </p:nvSpPr>
        <p:spPr>
          <a:xfrm>
            <a:off x="402336" y="2798064"/>
            <a:ext cx="365760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7" name="Shape 45"/>
          <p:cNvSpPr/>
          <p:nvPr/>
        </p:nvSpPr>
        <p:spPr>
          <a:xfrm>
            <a:off x="4059936" y="2770632"/>
            <a:ext cx="100584" cy="100584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48" name="Text 46"/>
          <p:cNvSpPr/>
          <p:nvPr/>
        </p:nvSpPr>
        <p:spPr>
          <a:xfrm>
            <a:off x="402336" y="290779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System, Judicial Structure &amp; the Role of Advocates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02336" y="3438144"/>
            <a:ext cx="1188720" cy="1188720"/>
          </a:xfrm>
          <a:prstGeom prst="ellipse">
            <a:avLst/>
          </a:prstGeom>
          <a:solidFill>
            <a:srgbClr val="C9A84C"/>
          </a:solidFill>
          <a:ln/>
          <a:effectLst>
            <a:outerShdw blurRad="254000" dist="50800" dir="16200000" algn="bl" rotWithShape="0">
              <a:srgbClr val="C9A84C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6344" y="3502152"/>
            <a:ext cx="1060704" cy="1060704"/>
          </a:xfrm>
          <a:prstGeom prst="ellipse">
            <a:avLst/>
          </a:prstGeom>
          <a:solidFill>
            <a:srgbClr val="0C1B3D"/>
          </a:solidFill>
          <a:ln/>
        </p:spPr>
      </p:sp>
      <p:sp>
        <p:nvSpPr>
          <p:cNvPr id="51" name="Text 49"/>
          <p:cNvSpPr/>
          <p:nvPr/>
        </p:nvSpPr>
        <p:spPr>
          <a:xfrm>
            <a:off x="402336" y="3557016"/>
            <a:ext cx="118872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</a:rPr>
              <a:t>19+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457200" y="4151376"/>
            <a:ext cx="1078992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6B7E9F"/>
                </a:solidFill>
              </a:rPr>
              <a:t>Document</a:t>
            </a:r>
            <a:endParaRPr lang="en-US" sz="7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6B7E9F"/>
                </a:solidFill>
              </a:rPr>
              <a:t>Types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773936" y="3438144"/>
            <a:ext cx="1188720" cy="1188720"/>
          </a:xfrm>
          <a:prstGeom prst="ellipse">
            <a:avLst/>
          </a:prstGeom>
          <a:solidFill>
            <a:srgbClr val="4A90D9"/>
          </a:solidFill>
          <a:ln/>
          <a:effectLst>
            <a:outerShdw blurRad="254000" dist="50800" dir="16200000" algn="bl" rotWithShape="0">
              <a:srgbClr val="4A90D9">
                <a:alpha val="3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837944" y="3502152"/>
            <a:ext cx="1060704" cy="1060704"/>
          </a:xfrm>
          <a:prstGeom prst="ellipse">
            <a:avLst/>
          </a:prstGeom>
          <a:solidFill>
            <a:srgbClr val="0C1B3D"/>
          </a:solidFill>
          <a:ln/>
        </p:spPr>
      </p:sp>
      <p:sp>
        <p:nvSpPr>
          <p:cNvPr id="55" name="Text 53"/>
          <p:cNvSpPr/>
          <p:nvPr/>
        </p:nvSpPr>
        <p:spPr>
          <a:xfrm>
            <a:off x="1773936" y="3557016"/>
            <a:ext cx="118872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90D9"/>
                </a:solidFill>
              </a:rPr>
              <a:t>7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1828800" y="4151376"/>
            <a:ext cx="1078992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6B7E9F"/>
                </a:solidFill>
              </a:rPr>
              <a:t>Court</a:t>
            </a:r>
            <a:endParaRPr lang="en-US" sz="7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6B7E9F"/>
                </a:solidFill>
              </a:rPr>
              <a:t>Tiers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145536" y="3438144"/>
            <a:ext cx="1188720" cy="1188720"/>
          </a:xfrm>
          <a:prstGeom prst="ellipse">
            <a:avLst/>
          </a:prstGeom>
          <a:solidFill>
            <a:srgbClr val="27AE60"/>
          </a:solidFill>
          <a:ln/>
          <a:effectLst>
            <a:outerShdw blurRad="254000" dist="50800" dir="16200000" algn="bl" rotWithShape="0">
              <a:srgbClr val="27AE60">
                <a:alpha val="3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209544" y="3502152"/>
            <a:ext cx="1060704" cy="1060704"/>
          </a:xfrm>
          <a:prstGeom prst="ellipse">
            <a:avLst/>
          </a:prstGeom>
          <a:solidFill>
            <a:srgbClr val="0C1B3D"/>
          </a:solidFill>
          <a:ln/>
        </p:spPr>
      </p:sp>
      <p:sp>
        <p:nvSpPr>
          <p:cNvPr id="59" name="Text 57"/>
          <p:cNvSpPr/>
          <p:nvPr/>
        </p:nvSpPr>
        <p:spPr>
          <a:xfrm>
            <a:off x="3145536" y="3557016"/>
            <a:ext cx="118872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</a:rPr>
              <a:t>1950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3200400" y="4151376"/>
            <a:ext cx="1078992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6B7E9F"/>
                </a:solidFill>
              </a:rPr>
              <a:t>Constitution</a:t>
            </a:r>
            <a:endParaRPr lang="en-US" sz="7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6B7E9F"/>
                </a:solidFill>
              </a:rPr>
              <a:t>Since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02336" y="47731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E9F"/>
                </a:solidFill>
              </a:rPr>
              <a:t>Powered by LexForge AI  ·  Groq Llama 3.3 70B  ·  Indian Legal Intelligence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9536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19072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578608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438144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297680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157216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Shape 19"/>
          <p:cNvSpPr/>
          <p:nvPr/>
        </p:nvSpPr>
        <p:spPr>
          <a:xfrm>
            <a:off x="8394192" y="91440"/>
            <a:ext cx="137160" cy="137160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77072" y="219456"/>
            <a:ext cx="91440" cy="91440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284464" y="246888"/>
            <a:ext cx="73152" cy="73152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19456" y="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LAW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19456" y="429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E9F"/>
                </a:solidFill>
              </a:rPr>
              <a:t>Meaning · Importance · Purpose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79792" y="91440"/>
            <a:ext cx="1554480" cy="548640"/>
          </a:xfrm>
          <a:prstGeom prst="rect">
            <a:avLst/>
          </a:prstGeom>
          <a:solidFill>
            <a:srgbClr val="C9A84C">
              <a:alpha val="1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479792" y="91440"/>
            <a:ext cx="15544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Shape 26"/>
          <p:cNvSpPr/>
          <p:nvPr/>
        </p:nvSpPr>
        <p:spPr>
          <a:xfrm>
            <a:off x="7479792" y="91440"/>
            <a:ext cx="36576" cy="548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9" name="Text 27"/>
          <p:cNvSpPr/>
          <p:nvPr/>
        </p:nvSpPr>
        <p:spPr>
          <a:xfrm>
            <a:off x="7516368" y="128016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DFA0"/>
                </a:solidFill>
              </a:rPr>
              <a:t>Chapter 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6032" y="74980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C9A84C">
                    <a:alpha val="30000"/>
                  </a:srgbClr>
                </a:solidFill>
              </a:rPr>
              <a:t>"</a:t>
            </a:r>
            <a:endParaRPr lang="en-US" sz="6000" dirty="0"/>
          </a:p>
        </p:txBody>
      </p:sp>
      <p:sp>
        <p:nvSpPr>
          <p:cNvPr id="31" name="Shape 29"/>
          <p:cNvSpPr/>
          <p:nvPr/>
        </p:nvSpPr>
        <p:spPr>
          <a:xfrm>
            <a:off x="256032" y="822960"/>
            <a:ext cx="8631936" cy="640080"/>
          </a:xfrm>
          <a:prstGeom prst="rect">
            <a:avLst/>
          </a:prstGeom>
          <a:solidFill>
            <a:srgbClr val="112248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822960"/>
            <a:ext cx="64008" cy="640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8412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is the expression of the will of the community and the instrument of justice which holds society together.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56032" y="1572768"/>
            <a:ext cx="2816352" cy="2816352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1572768"/>
            <a:ext cx="2816352" cy="42062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6" name="Shape 34"/>
          <p:cNvSpPr/>
          <p:nvPr/>
        </p:nvSpPr>
        <p:spPr>
          <a:xfrm>
            <a:off x="2596896" y="1572768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" y="157276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MEANING OF LAW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615184" y="15727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01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420624" y="2093976"/>
            <a:ext cx="91440" cy="914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40" name="Text 38"/>
          <p:cNvSpPr/>
          <p:nvPr/>
        </p:nvSpPr>
        <p:spPr>
          <a:xfrm>
            <a:off x="585216" y="199339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8E2F0"/>
                </a:solidFill>
              </a:rPr>
              <a:t>A body of rules enforced by governing authority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20624" y="2615184"/>
            <a:ext cx="91440" cy="914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42" name="Text 40"/>
          <p:cNvSpPr/>
          <p:nvPr/>
        </p:nvSpPr>
        <p:spPr>
          <a:xfrm>
            <a:off x="585216" y="25146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8E2F0"/>
                </a:solidFill>
              </a:rPr>
              <a:t>Derived from Constitution, statutes &amp; precedents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20624" y="3136392"/>
            <a:ext cx="91440" cy="914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44" name="Text 42"/>
          <p:cNvSpPr/>
          <p:nvPr/>
        </p:nvSpPr>
        <p:spPr>
          <a:xfrm>
            <a:off x="585216" y="30358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8E2F0"/>
                </a:solidFill>
              </a:rPr>
              <a:t>Governs conduct of individuals &amp; institutions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20624" y="3657600"/>
            <a:ext cx="91440" cy="914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46" name="Text 44"/>
          <p:cNvSpPr/>
          <p:nvPr/>
        </p:nvSpPr>
        <p:spPr>
          <a:xfrm>
            <a:off x="585216" y="355701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8E2F0"/>
                </a:solidFill>
              </a:rPr>
              <a:t>Balances rights with duties of the State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56032" y="4261104"/>
            <a:ext cx="2816352" cy="128016"/>
          </a:xfrm>
          <a:prstGeom prst="rect">
            <a:avLst/>
          </a:prstGeom>
          <a:solidFill>
            <a:srgbClr val="C9A84C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209544" y="1572768"/>
            <a:ext cx="2816352" cy="2816352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09544" y="1572768"/>
            <a:ext cx="2816352" cy="42062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0" name="Shape 48"/>
          <p:cNvSpPr/>
          <p:nvPr/>
        </p:nvSpPr>
        <p:spPr>
          <a:xfrm>
            <a:off x="5550408" y="1572768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3337560" y="157276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IMPORTANCE IN SOCIETY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5568696" y="15727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02</a:t>
            </a:r>
            <a:endParaRPr lang="en-US" sz="1700" dirty="0"/>
          </a:p>
        </p:txBody>
      </p:sp>
      <p:sp>
        <p:nvSpPr>
          <p:cNvPr id="53" name="Shape 51"/>
          <p:cNvSpPr/>
          <p:nvPr/>
        </p:nvSpPr>
        <p:spPr>
          <a:xfrm>
            <a:off x="3374136" y="2093976"/>
            <a:ext cx="91440" cy="914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54" name="Text 52"/>
          <p:cNvSpPr/>
          <p:nvPr/>
        </p:nvSpPr>
        <p:spPr>
          <a:xfrm>
            <a:off x="3538728" y="199339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8E2F0"/>
                </a:solidFill>
              </a:rPr>
              <a:t>Ensures peace, order, and social justice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374136" y="2615184"/>
            <a:ext cx="91440" cy="914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56" name="Text 54"/>
          <p:cNvSpPr/>
          <p:nvPr/>
        </p:nvSpPr>
        <p:spPr>
          <a:xfrm>
            <a:off x="3538728" y="25146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8E2F0"/>
                </a:solidFill>
              </a:rPr>
              <a:t>Protects fundamental rights of every citizen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374136" y="3136392"/>
            <a:ext cx="91440" cy="914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58" name="Text 56"/>
          <p:cNvSpPr/>
          <p:nvPr/>
        </p:nvSpPr>
        <p:spPr>
          <a:xfrm>
            <a:off x="3538728" y="30358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8E2F0"/>
                </a:solidFill>
              </a:rPr>
              <a:t>Resolves disputes through established procedures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374136" y="3657600"/>
            <a:ext cx="91440" cy="914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0" name="Text 58"/>
          <p:cNvSpPr/>
          <p:nvPr/>
        </p:nvSpPr>
        <p:spPr>
          <a:xfrm>
            <a:off x="3538728" y="355701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8E2F0"/>
                </a:solidFill>
              </a:rPr>
              <a:t>Prevents abuse of power by state machinery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3209544" y="4261104"/>
            <a:ext cx="2816352" cy="128016"/>
          </a:xfrm>
          <a:prstGeom prst="rect">
            <a:avLst/>
          </a:prstGeom>
          <a:solidFill>
            <a:srgbClr val="4A90D9">
              <a:alpha val="2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163056" y="1572768"/>
            <a:ext cx="2816352" cy="2816352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163056" y="1572768"/>
            <a:ext cx="2816352" cy="42062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4" name="Shape 62"/>
          <p:cNvSpPr/>
          <p:nvPr/>
        </p:nvSpPr>
        <p:spPr>
          <a:xfrm>
            <a:off x="8503920" y="1572768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6291072" y="157276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PURPOSE OF LEGAL SYSTEMS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8522208" y="15727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03</a:t>
            </a:r>
            <a:endParaRPr lang="en-US" sz="1700" dirty="0"/>
          </a:p>
        </p:txBody>
      </p:sp>
      <p:sp>
        <p:nvSpPr>
          <p:cNvPr id="67" name="Shape 65"/>
          <p:cNvSpPr/>
          <p:nvPr/>
        </p:nvSpPr>
        <p:spPr>
          <a:xfrm>
            <a:off x="6327648" y="2093976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8" name="Text 66"/>
          <p:cNvSpPr/>
          <p:nvPr/>
        </p:nvSpPr>
        <p:spPr>
          <a:xfrm>
            <a:off x="6492240" y="199339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8E2F0"/>
                </a:solidFill>
              </a:rPr>
              <a:t>Codify acceptable norms of behaviour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6327648" y="2615184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70" name="Text 68"/>
          <p:cNvSpPr/>
          <p:nvPr/>
        </p:nvSpPr>
        <p:spPr>
          <a:xfrm>
            <a:off x="6492240" y="25146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8E2F0"/>
                </a:solidFill>
              </a:rPr>
              <a:t>Provide mechanisms for redressal of grievances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6327648" y="3136392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72" name="Text 70"/>
          <p:cNvSpPr/>
          <p:nvPr/>
        </p:nvSpPr>
        <p:spPr>
          <a:xfrm>
            <a:off x="6492240" y="30358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8E2F0"/>
                </a:solidFill>
              </a:rPr>
              <a:t>Enable equal access to justice for all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6327648" y="3657600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74" name="Text 72"/>
          <p:cNvSpPr/>
          <p:nvPr/>
        </p:nvSpPr>
        <p:spPr>
          <a:xfrm>
            <a:off x="6492240" y="355701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8E2F0"/>
                </a:solidFill>
              </a:rPr>
              <a:t>Uphold constitutional supremacy &amp; rule of law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6163056" y="4261104"/>
            <a:ext cx="2816352" cy="128016"/>
          </a:xfrm>
          <a:prstGeom prst="rect">
            <a:avLst/>
          </a:prstGeom>
          <a:solidFill>
            <a:srgbClr val="27AE60">
              <a:alpha val="20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256032" y="4443984"/>
            <a:ext cx="8631936" cy="402336"/>
          </a:xfrm>
          <a:prstGeom prst="rect">
            <a:avLst/>
          </a:prstGeom>
          <a:solidFill>
            <a:srgbClr val="070B1A"/>
          </a:solidFill>
          <a:ln/>
        </p:spPr>
      </p:sp>
      <p:sp>
        <p:nvSpPr>
          <p:cNvPr id="77" name="Shape 75"/>
          <p:cNvSpPr/>
          <p:nvPr/>
        </p:nvSpPr>
        <p:spPr>
          <a:xfrm>
            <a:off x="256032" y="4443984"/>
            <a:ext cx="8631936" cy="3291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8" name="Shape 76"/>
          <p:cNvSpPr/>
          <p:nvPr/>
        </p:nvSpPr>
        <p:spPr>
          <a:xfrm>
            <a:off x="256032" y="4443984"/>
            <a:ext cx="32918" cy="4023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9" name="Shape 77"/>
          <p:cNvSpPr/>
          <p:nvPr/>
        </p:nvSpPr>
        <p:spPr>
          <a:xfrm>
            <a:off x="457200" y="4562856"/>
            <a:ext cx="164592" cy="164592"/>
          </a:xfrm>
          <a:prstGeom prst="ellipse">
            <a:avLst/>
          </a:prstGeom>
          <a:solidFill>
            <a:srgbClr val="C9A84C">
              <a:alpha val="55000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731520" y="44805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C9A84C"/>
                </a:solidFill>
              </a:rPr>
              <a:t>KEY INSIGHT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1700784" y="4535424"/>
            <a:ext cx="20117" cy="2194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2" name="Text 80"/>
          <p:cNvSpPr/>
          <p:nvPr/>
        </p:nvSpPr>
        <p:spPr>
          <a:xfrm>
            <a:off x="1792224" y="4480560"/>
            <a:ext cx="6986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Law is not merely rules — it is the living framework that translates justice from an ideal into a daily reality for 1.4 billion Indians.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84" name="Shape 82"/>
          <p:cNvSpPr/>
          <p:nvPr/>
        </p:nvSpPr>
        <p:spPr>
          <a:xfrm>
            <a:off x="0" y="4878324"/>
            <a:ext cx="91440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5" name="Shape 83"/>
          <p:cNvSpPr/>
          <p:nvPr/>
        </p:nvSpPr>
        <p:spPr>
          <a:xfrm>
            <a:off x="146304" y="4910328"/>
            <a:ext cx="128016" cy="128016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6" name="Text 84"/>
          <p:cNvSpPr/>
          <p:nvPr/>
        </p:nvSpPr>
        <p:spPr>
          <a:xfrm>
            <a:off x="402336" y="48828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E9F"/>
                </a:solidFill>
              </a:rPr>
              <a:t>LexForge AI  ·  AI-Powered Indian Legal Document Platform  ·  Justice · Precision · Technology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9536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19072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578608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438144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297680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157216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Shape 19"/>
          <p:cNvSpPr/>
          <p:nvPr/>
        </p:nvSpPr>
        <p:spPr>
          <a:xfrm>
            <a:off x="8394192" y="91440"/>
            <a:ext cx="137160" cy="137160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77072" y="219456"/>
            <a:ext cx="91440" cy="91440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284464" y="246888"/>
            <a:ext cx="73152" cy="73152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19456" y="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 LAWYER?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19456" y="429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E9F"/>
                </a:solidFill>
              </a:rPr>
              <a:t>Definition · Responsibilities · Professional Ethics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79792" y="91440"/>
            <a:ext cx="1554480" cy="548640"/>
          </a:xfrm>
          <a:prstGeom prst="rect">
            <a:avLst/>
          </a:prstGeom>
          <a:solidFill>
            <a:srgbClr val="C9A84C">
              <a:alpha val="1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479792" y="91440"/>
            <a:ext cx="15544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Shape 26"/>
          <p:cNvSpPr/>
          <p:nvPr/>
        </p:nvSpPr>
        <p:spPr>
          <a:xfrm>
            <a:off x="7479792" y="91440"/>
            <a:ext cx="36576" cy="548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9" name="Text 27"/>
          <p:cNvSpPr/>
          <p:nvPr/>
        </p:nvSpPr>
        <p:spPr>
          <a:xfrm>
            <a:off x="7516368" y="128016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DFA0"/>
                </a:solidFill>
              </a:rPr>
              <a:t>Chapter 02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" y="822960"/>
            <a:ext cx="4160520" cy="1901952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822960"/>
            <a:ext cx="4160520" cy="42062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2" name="Shape 30"/>
          <p:cNvSpPr/>
          <p:nvPr/>
        </p:nvSpPr>
        <p:spPr>
          <a:xfrm>
            <a:off x="3941064" y="822960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82296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DEFINITION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959352" y="822960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ADV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402336" y="1280160"/>
            <a:ext cx="38587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D8E2F0"/>
                </a:solidFill>
              </a:rPr>
              <a:t>A lawyer (Advocate under the Advocates Act, 1961) is a licensed legal professional who advises and represents clients. In India, only enrolled members of a State Bar Council may practise before courts and tribunals.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27448" y="822960"/>
            <a:ext cx="4160520" cy="1901952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27448" y="822960"/>
            <a:ext cx="4160520" cy="42062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8" name="Shape 36"/>
          <p:cNvSpPr/>
          <p:nvPr/>
        </p:nvSpPr>
        <p:spPr>
          <a:xfrm>
            <a:off x="8412480" y="822960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855464" y="82296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PATH TO BECOMING AN ADVOCATE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430768" y="822960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LLB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4882896" y="1298448"/>
            <a:ext cx="292608" cy="292608"/>
          </a:xfrm>
          <a:prstGeom prst="ellipse">
            <a:avLst/>
          </a:prstGeom>
          <a:solidFill>
            <a:srgbClr val="4A90D9">
              <a:alpha val="3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882896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</a:rPr>
              <a:t>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48656" y="1298448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2F0"/>
                </a:solidFill>
              </a:rPr>
              <a:t>Complete LLB (3yr) or Integrated BA LLB (5yr)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82896" y="1645920"/>
            <a:ext cx="292608" cy="292608"/>
          </a:xfrm>
          <a:prstGeom prst="ellipse">
            <a:avLst/>
          </a:prstGeom>
          <a:solidFill>
            <a:srgbClr val="4A90D9">
              <a:alpha val="3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882896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</a:rPr>
              <a:t>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48656" y="1645920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2F0"/>
                </a:solidFill>
              </a:rPr>
              <a:t>Clear All India Bar Examination (AIBE)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82896" y="1993392"/>
            <a:ext cx="292608" cy="292608"/>
          </a:xfrm>
          <a:prstGeom prst="ellipse">
            <a:avLst/>
          </a:prstGeom>
          <a:solidFill>
            <a:srgbClr val="4A90D9">
              <a:alpha val="3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882896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</a:rPr>
              <a:t>3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48656" y="1993392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2F0"/>
                </a:solidFill>
              </a:rPr>
              <a:t>Enroll with State Bar Council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882896" y="2340864"/>
            <a:ext cx="292608" cy="292608"/>
          </a:xfrm>
          <a:prstGeom prst="ellipse">
            <a:avLst/>
          </a:prstGeom>
          <a:solidFill>
            <a:srgbClr val="4A90D9">
              <a:alpha val="3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4882896" y="2340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</a:rPr>
              <a:t>4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248656" y="2340864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2F0"/>
                </a:solidFill>
              </a:rPr>
              <a:t>Practise under Senior Advocate (optional)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56032" y="2816352"/>
            <a:ext cx="8631936" cy="1554480"/>
          </a:xfrm>
          <a:prstGeom prst="rect">
            <a:avLst/>
          </a:prstGeom>
          <a:solidFill>
            <a:srgbClr val="112248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56032" y="2816352"/>
            <a:ext cx="8631936" cy="42062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5" name="Shape 53"/>
          <p:cNvSpPr/>
          <p:nvPr/>
        </p:nvSpPr>
        <p:spPr>
          <a:xfrm>
            <a:off x="8412480" y="2816352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384048" y="2816352"/>
            <a:ext cx="7991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PROFESSIONAL ETHICS — BAR COUNCIL OF INDIA STANDARDS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8430768" y="281635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BCI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402336" y="3291840"/>
            <a:ext cx="2011680" cy="969264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59" name="Shape 57"/>
          <p:cNvSpPr/>
          <p:nvPr/>
        </p:nvSpPr>
        <p:spPr>
          <a:xfrm>
            <a:off x="402336" y="3291840"/>
            <a:ext cx="201168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0" name="Shape 58"/>
          <p:cNvSpPr/>
          <p:nvPr/>
        </p:nvSpPr>
        <p:spPr>
          <a:xfrm>
            <a:off x="493776" y="3355848"/>
            <a:ext cx="201168" cy="201168"/>
          </a:xfrm>
          <a:prstGeom prst="ellipse">
            <a:avLst/>
          </a:prstGeom>
          <a:solidFill>
            <a:srgbClr val="C9A84C">
              <a:alpha val="4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768096" y="33284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84C"/>
                </a:solidFill>
              </a:rPr>
              <a:t>Duty to Client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493776" y="360273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Absolute confidentiality, conflict-free representation, zealous advocacy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560320" y="3291840"/>
            <a:ext cx="2011680" cy="969264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64" name="Shape 62"/>
          <p:cNvSpPr/>
          <p:nvPr/>
        </p:nvSpPr>
        <p:spPr>
          <a:xfrm>
            <a:off x="2560320" y="3291840"/>
            <a:ext cx="2011680" cy="3200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5" name="Shape 63"/>
          <p:cNvSpPr/>
          <p:nvPr/>
        </p:nvSpPr>
        <p:spPr>
          <a:xfrm>
            <a:off x="2651760" y="3355848"/>
            <a:ext cx="201168" cy="201168"/>
          </a:xfrm>
          <a:prstGeom prst="ellipse">
            <a:avLst/>
          </a:prstGeom>
          <a:solidFill>
            <a:srgbClr val="4A90D9">
              <a:alpha val="4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2926080" y="33284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0D9"/>
                </a:solidFill>
              </a:rPr>
              <a:t>Duty to Court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2651760" y="360273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Candour, not mislead judges, uphold dignity of judiciary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718304" y="3291840"/>
            <a:ext cx="2011680" cy="969264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69" name="Shape 67"/>
          <p:cNvSpPr/>
          <p:nvPr/>
        </p:nvSpPr>
        <p:spPr>
          <a:xfrm>
            <a:off x="4718304" y="3291840"/>
            <a:ext cx="2011680" cy="3200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0" name="Shape 68"/>
          <p:cNvSpPr/>
          <p:nvPr/>
        </p:nvSpPr>
        <p:spPr>
          <a:xfrm>
            <a:off x="4809744" y="3355848"/>
            <a:ext cx="201168" cy="201168"/>
          </a:xfrm>
          <a:prstGeom prst="ellipse">
            <a:avLst/>
          </a:prstGeom>
          <a:solidFill>
            <a:srgbClr val="27AE60">
              <a:alpha val="4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5084064" y="33284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</a:rPr>
              <a:t>Duty to Profession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4809744" y="360273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No undercutting of fees, no touting, maintain collegial standards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876288" y="3291840"/>
            <a:ext cx="2011680" cy="969264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74" name="Shape 72"/>
          <p:cNvSpPr/>
          <p:nvPr/>
        </p:nvSpPr>
        <p:spPr>
          <a:xfrm>
            <a:off x="6876288" y="3291840"/>
            <a:ext cx="2011680" cy="3200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5" name="Shape 73"/>
          <p:cNvSpPr/>
          <p:nvPr/>
        </p:nvSpPr>
        <p:spPr>
          <a:xfrm>
            <a:off x="6967728" y="3355848"/>
            <a:ext cx="201168" cy="201168"/>
          </a:xfrm>
          <a:prstGeom prst="ellipse">
            <a:avLst/>
          </a:prstGeom>
          <a:solidFill>
            <a:srgbClr val="E67E22">
              <a:alpha val="40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7242048" y="33284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</a:rPr>
              <a:t>Duty to Opponent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6967728" y="360273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Fairness, no misrepresentation, courteous conduct at all times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56032" y="4443984"/>
            <a:ext cx="8631936" cy="402336"/>
          </a:xfrm>
          <a:prstGeom prst="rect">
            <a:avLst/>
          </a:prstGeom>
          <a:solidFill>
            <a:srgbClr val="070B1A"/>
          </a:solidFill>
          <a:ln/>
        </p:spPr>
      </p:sp>
      <p:sp>
        <p:nvSpPr>
          <p:cNvPr id="79" name="Shape 77"/>
          <p:cNvSpPr/>
          <p:nvPr/>
        </p:nvSpPr>
        <p:spPr>
          <a:xfrm>
            <a:off x="256032" y="4443984"/>
            <a:ext cx="8631936" cy="3291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0" name="Shape 78"/>
          <p:cNvSpPr/>
          <p:nvPr/>
        </p:nvSpPr>
        <p:spPr>
          <a:xfrm>
            <a:off x="256032" y="4443984"/>
            <a:ext cx="32918" cy="4023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1" name="Shape 79"/>
          <p:cNvSpPr/>
          <p:nvPr/>
        </p:nvSpPr>
        <p:spPr>
          <a:xfrm>
            <a:off x="457200" y="4562856"/>
            <a:ext cx="164592" cy="164592"/>
          </a:xfrm>
          <a:prstGeom prst="ellipse">
            <a:avLst/>
          </a:prstGeom>
          <a:solidFill>
            <a:srgbClr val="C9A84C">
              <a:alpha val="55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731520" y="44805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C9A84C"/>
                </a:solidFill>
              </a:rPr>
              <a:t>KEY INSIGHT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1700784" y="4535424"/>
            <a:ext cx="20117" cy="2194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4" name="Text 82"/>
          <p:cNvSpPr/>
          <p:nvPr/>
        </p:nvSpPr>
        <p:spPr>
          <a:xfrm>
            <a:off x="1792224" y="4480560"/>
            <a:ext cx="6986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An advocate is an officer of the court — their first duty is to justice, not to client victory. This duality defines the profession.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86" name="Shape 84"/>
          <p:cNvSpPr/>
          <p:nvPr/>
        </p:nvSpPr>
        <p:spPr>
          <a:xfrm>
            <a:off x="0" y="4878324"/>
            <a:ext cx="91440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7" name="Shape 85"/>
          <p:cNvSpPr/>
          <p:nvPr/>
        </p:nvSpPr>
        <p:spPr>
          <a:xfrm>
            <a:off x="146304" y="4910328"/>
            <a:ext cx="128016" cy="128016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8" name="Text 86"/>
          <p:cNvSpPr/>
          <p:nvPr/>
        </p:nvSpPr>
        <p:spPr>
          <a:xfrm>
            <a:off x="402336" y="48828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E9F"/>
                </a:solidFill>
              </a:rPr>
              <a:t>LexForge AI  ·  AI-Powered Indian Legal Document Platform  ·  Justice · Precision · Technology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9536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19072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578608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438144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297680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157216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Shape 19"/>
          <p:cNvSpPr/>
          <p:nvPr/>
        </p:nvSpPr>
        <p:spPr>
          <a:xfrm>
            <a:off x="8394192" y="91440"/>
            <a:ext cx="137160" cy="137160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77072" y="219456"/>
            <a:ext cx="91440" cy="91440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284464" y="246888"/>
            <a:ext cx="73152" cy="73152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19456" y="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DUTIES OF A LAWYER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19456" y="429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E9F"/>
                </a:solidFill>
              </a:rPr>
              <a:t>What Advocates Do Every Day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79792" y="91440"/>
            <a:ext cx="1554480" cy="548640"/>
          </a:xfrm>
          <a:prstGeom prst="rect">
            <a:avLst/>
          </a:prstGeom>
          <a:solidFill>
            <a:srgbClr val="C9A84C">
              <a:alpha val="1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479792" y="91440"/>
            <a:ext cx="15544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Shape 26"/>
          <p:cNvSpPr/>
          <p:nvPr/>
        </p:nvSpPr>
        <p:spPr>
          <a:xfrm>
            <a:off x="7479792" y="91440"/>
            <a:ext cx="36576" cy="548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9" name="Text 27"/>
          <p:cNvSpPr/>
          <p:nvPr/>
        </p:nvSpPr>
        <p:spPr>
          <a:xfrm>
            <a:off x="7516368" y="128016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DFA0"/>
                </a:solidFill>
              </a:rPr>
              <a:t>Chapter 03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" y="841248"/>
            <a:ext cx="4206240" cy="1810512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841248"/>
            <a:ext cx="4206240" cy="42062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2" name="Shape 30"/>
          <p:cNvSpPr/>
          <p:nvPr/>
        </p:nvSpPr>
        <p:spPr>
          <a:xfrm>
            <a:off x="3986784" y="841248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84124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01  LEGAL ADVICE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005072" y="84124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ADV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384048" y="1335024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8E2F0"/>
                </a:solidFill>
              </a:rPr>
              <a:t>Counsel clients on rights, obligations, and risk. Interpret statutes and case law to guide decisions before disputes arise.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84048" y="2212848"/>
            <a:ext cx="1042416" cy="274320"/>
          </a:xfrm>
          <a:prstGeom prst="rect">
            <a:avLst/>
          </a:prstGeom>
          <a:solidFill>
            <a:srgbClr val="C9A84C">
              <a:alpha val="2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84048" y="2212848"/>
            <a:ext cx="1042416" cy="22860"/>
          </a:xfrm>
          <a:prstGeom prst="rect">
            <a:avLst/>
          </a:prstGeom>
          <a:solidFill>
            <a:srgbClr val="C9A84C">
              <a:alpha val="7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84048" y="221284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84C"/>
                </a:solidFill>
              </a:rPr>
              <a:t>Preventive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755648" y="2212848"/>
            <a:ext cx="1042416" cy="274320"/>
          </a:xfrm>
          <a:prstGeom prst="rect">
            <a:avLst/>
          </a:prstGeom>
          <a:solidFill>
            <a:srgbClr val="C9A84C">
              <a:alpha val="2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755648" y="2212848"/>
            <a:ext cx="1042416" cy="22860"/>
          </a:xfrm>
          <a:prstGeom prst="rect">
            <a:avLst/>
          </a:prstGeom>
          <a:solidFill>
            <a:srgbClr val="C9A84C">
              <a:alpha val="7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755648" y="221284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84C"/>
                </a:solidFill>
              </a:rPr>
              <a:t>Client-first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127248" y="2212848"/>
            <a:ext cx="1042416" cy="274320"/>
          </a:xfrm>
          <a:prstGeom prst="rect">
            <a:avLst/>
          </a:prstGeom>
          <a:solidFill>
            <a:srgbClr val="C9A84C">
              <a:alpha val="2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127248" y="2212848"/>
            <a:ext cx="1042416" cy="22860"/>
          </a:xfrm>
          <a:prstGeom prst="rect">
            <a:avLst/>
          </a:prstGeom>
          <a:solidFill>
            <a:srgbClr val="C9A84C">
              <a:alpha val="7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3127248" y="221284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84C"/>
                </a:solidFill>
              </a:rPr>
              <a:t>Confidential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00016" y="841248"/>
            <a:ext cx="4206240" cy="1810512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00016" y="841248"/>
            <a:ext cx="4206240" cy="42062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7" name="Shape 45"/>
          <p:cNvSpPr/>
          <p:nvPr/>
        </p:nvSpPr>
        <p:spPr>
          <a:xfrm>
            <a:off x="8430768" y="841248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828032" y="84124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02  COURT REPRESENTATION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449056" y="84124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CRT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4828032" y="1335024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8E2F0"/>
                </a:solidFill>
              </a:rPr>
              <a:t>Appear before courts and tribunals. Argue motions, examine witnesses, submit evidence, and make closing submissions.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828032" y="2212848"/>
            <a:ext cx="1042416" cy="274320"/>
          </a:xfrm>
          <a:prstGeom prst="rect">
            <a:avLst/>
          </a:prstGeom>
          <a:solidFill>
            <a:srgbClr val="4A90D9">
              <a:alpha val="2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828032" y="2212848"/>
            <a:ext cx="1042416" cy="22860"/>
          </a:xfrm>
          <a:prstGeom prst="rect">
            <a:avLst/>
          </a:prstGeom>
          <a:solidFill>
            <a:srgbClr val="4A90D9">
              <a:alpha val="7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4828032" y="221284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90D9"/>
                </a:solidFill>
              </a:rPr>
              <a:t>Advocacy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99632" y="2212848"/>
            <a:ext cx="1042416" cy="274320"/>
          </a:xfrm>
          <a:prstGeom prst="rect">
            <a:avLst/>
          </a:prstGeom>
          <a:solidFill>
            <a:srgbClr val="4A90D9">
              <a:alpha val="22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199632" y="2212848"/>
            <a:ext cx="1042416" cy="22860"/>
          </a:xfrm>
          <a:prstGeom prst="rect">
            <a:avLst/>
          </a:prstGeom>
          <a:solidFill>
            <a:srgbClr val="4A90D9">
              <a:alpha val="7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199632" y="221284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90D9"/>
                </a:solidFill>
              </a:rPr>
              <a:t>Oral Argument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571232" y="2212848"/>
            <a:ext cx="1042416" cy="274320"/>
          </a:xfrm>
          <a:prstGeom prst="rect">
            <a:avLst/>
          </a:prstGeom>
          <a:solidFill>
            <a:srgbClr val="4A90D9">
              <a:alpha val="22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571232" y="2212848"/>
            <a:ext cx="1042416" cy="22860"/>
          </a:xfrm>
          <a:prstGeom prst="rect">
            <a:avLst/>
          </a:prstGeom>
          <a:solidFill>
            <a:srgbClr val="4A90D9">
              <a:alpha val="7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7571232" y="221284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90D9"/>
                </a:solidFill>
              </a:rPr>
              <a:t>Evidence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56032" y="2798064"/>
            <a:ext cx="4206240" cy="1810512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256032" y="2798064"/>
            <a:ext cx="4206240" cy="42062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2" name="Shape 60"/>
          <p:cNvSpPr/>
          <p:nvPr/>
        </p:nvSpPr>
        <p:spPr>
          <a:xfrm>
            <a:off x="3986784" y="2798064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384048" y="279806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03  DRAFTING DOCUMENTS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4005072" y="279806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DRF</a:t>
            </a:r>
            <a:endParaRPr lang="en-US" sz="1700" dirty="0"/>
          </a:p>
        </p:txBody>
      </p:sp>
      <p:sp>
        <p:nvSpPr>
          <p:cNvPr id="65" name="Text 63"/>
          <p:cNvSpPr/>
          <p:nvPr/>
        </p:nvSpPr>
        <p:spPr>
          <a:xfrm>
            <a:off x="384048" y="3291840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8E2F0"/>
                </a:solidFill>
              </a:rPr>
              <a:t>Prepare legal notices, petitions, writ applications, contracts, affidavits, sale deeds and 19+ court-ready document types.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384048" y="4169664"/>
            <a:ext cx="1042416" cy="274320"/>
          </a:xfrm>
          <a:prstGeom prst="rect">
            <a:avLst/>
          </a:prstGeom>
          <a:solidFill>
            <a:srgbClr val="27AE60">
              <a:alpha val="22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384048" y="4169664"/>
            <a:ext cx="1042416" cy="22860"/>
          </a:xfrm>
          <a:prstGeom prst="rect">
            <a:avLst/>
          </a:prstGeom>
          <a:solidFill>
            <a:srgbClr val="27AE60">
              <a:alpha val="7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384048" y="416966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AE60"/>
                </a:solidFill>
              </a:rPr>
              <a:t>19 Doc Types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1755648" y="4169664"/>
            <a:ext cx="1042416" cy="274320"/>
          </a:xfrm>
          <a:prstGeom prst="rect">
            <a:avLst/>
          </a:prstGeom>
          <a:solidFill>
            <a:srgbClr val="27AE60">
              <a:alpha val="22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755648" y="4169664"/>
            <a:ext cx="1042416" cy="22860"/>
          </a:xfrm>
          <a:prstGeom prst="rect">
            <a:avLst/>
          </a:prstGeom>
          <a:solidFill>
            <a:srgbClr val="27AE60">
              <a:alpha val="7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755648" y="416966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AE60"/>
                </a:solidFill>
              </a:rPr>
              <a:t>LexForge AI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127248" y="4169664"/>
            <a:ext cx="1042416" cy="274320"/>
          </a:xfrm>
          <a:prstGeom prst="rect">
            <a:avLst/>
          </a:prstGeom>
          <a:solidFill>
            <a:srgbClr val="27AE60">
              <a:alpha val="22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3127248" y="4169664"/>
            <a:ext cx="1042416" cy="22860"/>
          </a:xfrm>
          <a:prstGeom prst="rect">
            <a:avLst/>
          </a:prstGeom>
          <a:solidFill>
            <a:srgbClr val="27AE60">
              <a:alpha val="70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3127248" y="416966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7AE60"/>
                </a:solidFill>
              </a:rPr>
              <a:t>Court-Ready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700016" y="2798064"/>
            <a:ext cx="4206240" cy="1810512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4700016" y="2798064"/>
            <a:ext cx="4206240" cy="42062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7" name="Shape 75"/>
          <p:cNvSpPr/>
          <p:nvPr/>
        </p:nvSpPr>
        <p:spPr>
          <a:xfrm>
            <a:off x="8430768" y="2798064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4828032" y="279806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04  NEGOTIATION &amp; MEDIATION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8449056" y="279806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NEG</a:t>
            </a:r>
            <a:endParaRPr lang="en-US" sz="1700" dirty="0"/>
          </a:p>
        </p:txBody>
      </p:sp>
      <p:sp>
        <p:nvSpPr>
          <p:cNvPr id="80" name="Text 78"/>
          <p:cNvSpPr/>
          <p:nvPr/>
        </p:nvSpPr>
        <p:spPr>
          <a:xfrm>
            <a:off x="4828032" y="3291840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8E2F0"/>
                </a:solidFill>
              </a:rPr>
              <a:t>Resolve disputes without litigation through structured negotiation, Lok Adalat settlements, and court-annexed mediation.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4828032" y="4169664"/>
            <a:ext cx="1042416" cy="274320"/>
          </a:xfrm>
          <a:prstGeom prst="rect">
            <a:avLst/>
          </a:prstGeom>
          <a:solidFill>
            <a:srgbClr val="9B59B6">
              <a:alpha val="22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4828032" y="4169664"/>
            <a:ext cx="1042416" cy="22860"/>
          </a:xfrm>
          <a:prstGeom prst="rect">
            <a:avLst/>
          </a:prstGeom>
          <a:solidFill>
            <a:srgbClr val="9B59B6">
              <a:alpha val="70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4828032" y="416966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B59B6"/>
                </a:solidFill>
              </a:rPr>
              <a:t>ADR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199632" y="4169664"/>
            <a:ext cx="1042416" cy="274320"/>
          </a:xfrm>
          <a:prstGeom prst="rect">
            <a:avLst/>
          </a:prstGeom>
          <a:solidFill>
            <a:srgbClr val="9B59B6">
              <a:alpha val="22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6199632" y="4169664"/>
            <a:ext cx="1042416" cy="22860"/>
          </a:xfrm>
          <a:prstGeom prst="rect">
            <a:avLst/>
          </a:prstGeom>
          <a:solidFill>
            <a:srgbClr val="9B59B6">
              <a:alpha val="70000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6199632" y="416966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B59B6"/>
                </a:solidFill>
              </a:rPr>
              <a:t>Lok Adalat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7571232" y="4169664"/>
            <a:ext cx="1042416" cy="274320"/>
          </a:xfrm>
          <a:prstGeom prst="rect">
            <a:avLst/>
          </a:prstGeom>
          <a:solidFill>
            <a:srgbClr val="9B59B6">
              <a:alpha val="22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7571232" y="4169664"/>
            <a:ext cx="1042416" cy="22860"/>
          </a:xfrm>
          <a:prstGeom prst="rect">
            <a:avLst/>
          </a:prstGeom>
          <a:solidFill>
            <a:srgbClr val="9B59B6">
              <a:alpha val="70000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7571232" y="416966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B59B6"/>
                </a:solidFill>
              </a:rPr>
              <a:t>Cost-Saving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256032" y="4443984"/>
            <a:ext cx="8631936" cy="402336"/>
          </a:xfrm>
          <a:prstGeom prst="rect">
            <a:avLst/>
          </a:prstGeom>
          <a:solidFill>
            <a:srgbClr val="070B1A"/>
          </a:solidFill>
          <a:ln/>
        </p:spPr>
      </p:sp>
      <p:sp>
        <p:nvSpPr>
          <p:cNvPr id="91" name="Shape 89"/>
          <p:cNvSpPr/>
          <p:nvPr/>
        </p:nvSpPr>
        <p:spPr>
          <a:xfrm>
            <a:off x="256032" y="4443984"/>
            <a:ext cx="8631936" cy="3291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2" name="Shape 90"/>
          <p:cNvSpPr/>
          <p:nvPr/>
        </p:nvSpPr>
        <p:spPr>
          <a:xfrm>
            <a:off x="256032" y="4443984"/>
            <a:ext cx="32918" cy="4023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3" name="Shape 91"/>
          <p:cNvSpPr/>
          <p:nvPr/>
        </p:nvSpPr>
        <p:spPr>
          <a:xfrm>
            <a:off x="457200" y="4562856"/>
            <a:ext cx="164592" cy="164592"/>
          </a:xfrm>
          <a:prstGeom prst="ellipse">
            <a:avLst/>
          </a:prstGeom>
          <a:solidFill>
            <a:srgbClr val="C9A84C">
              <a:alpha val="55000"/>
            </a:srgbClr>
          </a:solidFill>
          <a:ln/>
        </p:spPr>
      </p:sp>
      <p:sp>
        <p:nvSpPr>
          <p:cNvPr id="94" name="Text 92"/>
          <p:cNvSpPr/>
          <p:nvPr/>
        </p:nvSpPr>
        <p:spPr>
          <a:xfrm>
            <a:off x="731520" y="44805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C9A84C"/>
                </a:solidFill>
              </a:rPr>
              <a:t>KEY INSIGHT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1700784" y="4535424"/>
            <a:ext cx="20117" cy="2194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6" name="Text 94"/>
          <p:cNvSpPr/>
          <p:nvPr/>
        </p:nvSpPr>
        <p:spPr>
          <a:xfrm>
            <a:off x="1792224" y="4480560"/>
            <a:ext cx="6986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LexForge AI automates document drafting (Role 3) in under 30 seconds — freeing advocates to focus on advocacy, advice, and negotiation.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98" name="Shape 96"/>
          <p:cNvSpPr/>
          <p:nvPr/>
        </p:nvSpPr>
        <p:spPr>
          <a:xfrm>
            <a:off x="0" y="4878324"/>
            <a:ext cx="91440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9" name="Shape 97"/>
          <p:cNvSpPr/>
          <p:nvPr/>
        </p:nvSpPr>
        <p:spPr>
          <a:xfrm>
            <a:off x="146304" y="4910328"/>
            <a:ext cx="128016" cy="128016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00" name="Text 98"/>
          <p:cNvSpPr/>
          <p:nvPr/>
        </p:nvSpPr>
        <p:spPr>
          <a:xfrm>
            <a:off x="402336" y="48828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E9F"/>
                </a:solidFill>
              </a:rPr>
              <a:t>LexForge AI  ·  AI-Powered Indian Legal Document Platform  ·  Justice · Precision · Technology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9536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19072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578608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438144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297680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157216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Shape 19"/>
          <p:cNvSpPr/>
          <p:nvPr/>
        </p:nvSpPr>
        <p:spPr>
          <a:xfrm>
            <a:off x="8394192" y="91440"/>
            <a:ext cx="137160" cy="137160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77072" y="219456"/>
            <a:ext cx="91440" cy="91440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284464" y="246888"/>
            <a:ext cx="73152" cy="73152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19456" y="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LAWYERS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19456" y="429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E9F"/>
                </a:solidFill>
              </a:rPr>
              <a:t>Specialisations Across the Indian Legal Landscape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79792" y="91440"/>
            <a:ext cx="1554480" cy="548640"/>
          </a:xfrm>
          <a:prstGeom prst="rect">
            <a:avLst/>
          </a:prstGeom>
          <a:solidFill>
            <a:srgbClr val="C9A84C">
              <a:alpha val="1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479792" y="91440"/>
            <a:ext cx="15544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Shape 26"/>
          <p:cNvSpPr/>
          <p:nvPr/>
        </p:nvSpPr>
        <p:spPr>
          <a:xfrm>
            <a:off x="7479792" y="91440"/>
            <a:ext cx="36576" cy="548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9" name="Text 27"/>
          <p:cNvSpPr/>
          <p:nvPr/>
        </p:nvSpPr>
        <p:spPr>
          <a:xfrm>
            <a:off x="7516368" y="128016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DFA0"/>
                </a:solidFill>
              </a:rPr>
              <a:t>Chapter 04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" y="841248"/>
            <a:ext cx="2816352" cy="1792224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841248"/>
            <a:ext cx="2816352" cy="42062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2" name="Shape 30"/>
          <p:cNvSpPr/>
          <p:nvPr/>
        </p:nvSpPr>
        <p:spPr>
          <a:xfrm>
            <a:off x="2596896" y="841248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84124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CRIMINAL LAWYER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615184" y="84124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CRM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384048" y="1335024"/>
            <a:ext cx="786384" cy="201168"/>
          </a:xfrm>
          <a:prstGeom prst="rect">
            <a:avLst/>
          </a:prstGeom>
          <a:solidFill>
            <a:srgbClr val="C0392B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84048" y="133502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IPC · CrPC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65760" y="1335024"/>
            <a:ext cx="25968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Defends accused in murder, theft, fraud, NDPS, POCSO, cybercrime; also prosecutes on behalf of the State.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56032" y="2267712"/>
            <a:ext cx="2816352" cy="256032"/>
          </a:xfrm>
          <a:prstGeom prst="rect">
            <a:avLst/>
          </a:prstGeom>
          <a:solidFill>
            <a:srgbClr val="112248"/>
          </a:solidFill>
          <a:ln/>
        </p:spPr>
      </p:sp>
      <p:sp>
        <p:nvSpPr>
          <p:cNvPr id="39" name="Shape 37"/>
          <p:cNvSpPr/>
          <p:nvPr/>
        </p:nvSpPr>
        <p:spPr>
          <a:xfrm>
            <a:off x="256032" y="2267712"/>
            <a:ext cx="2816352" cy="18288"/>
          </a:xfrm>
          <a:prstGeom prst="rect">
            <a:avLst/>
          </a:prstGeom>
          <a:solidFill>
            <a:srgbClr val="C0392B">
              <a:alpha val="5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228600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</a:rPr>
              <a:t>Sessions · HC · SC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18688" y="841248"/>
            <a:ext cx="2816352" cy="1792224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18688" y="841248"/>
            <a:ext cx="2816352" cy="42062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3" name="Shape 41"/>
          <p:cNvSpPr/>
          <p:nvPr/>
        </p:nvSpPr>
        <p:spPr>
          <a:xfrm>
            <a:off x="5559552" y="841248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3346704" y="84124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CIVIL LAWYER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577840" y="84124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CVL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3346704" y="1335024"/>
            <a:ext cx="786384" cy="201168"/>
          </a:xfrm>
          <a:prstGeom prst="rect">
            <a:avLst/>
          </a:prstGeom>
          <a:solidFill>
            <a:srgbClr val="4A90D9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3346704" y="133502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A90D9"/>
                </a:solidFill>
              </a:rPr>
              <a:t>CPC · Torts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328416" y="1335024"/>
            <a:ext cx="25968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Property disputes, inheritance, landlord-tenant conflicts, injunctions, recovery suits, consumer disputes.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18688" y="2267712"/>
            <a:ext cx="2816352" cy="256032"/>
          </a:xfrm>
          <a:prstGeom prst="rect">
            <a:avLst/>
          </a:prstGeom>
          <a:solidFill>
            <a:srgbClr val="112248"/>
          </a:solidFill>
          <a:ln/>
        </p:spPr>
      </p:sp>
      <p:sp>
        <p:nvSpPr>
          <p:cNvPr id="50" name="Shape 48"/>
          <p:cNvSpPr/>
          <p:nvPr/>
        </p:nvSpPr>
        <p:spPr>
          <a:xfrm>
            <a:off x="3218688" y="2267712"/>
            <a:ext cx="2816352" cy="18288"/>
          </a:xfrm>
          <a:prstGeom prst="rect">
            <a:avLst/>
          </a:prstGeom>
          <a:solidFill>
            <a:srgbClr val="4A90D9">
              <a:alpha val="5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3328416" y="228600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90D9"/>
                </a:solidFill>
              </a:rPr>
              <a:t>Civil Courts · NCLT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181344" y="841248"/>
            <a:ext cx="2816352" cy="1792224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181344" y="841248"/>
            <a:ext cx="2816352" cy="42062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4" name="Shape 52"/>
          <p:cNvSpPr/>
          <p:nvPr/>
        </p:nvSpPr>
        <p:spPr>
          <a:xfrm>
            <a:off x="8522208" y="841248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309360" y="84124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CORPORATE LAWYER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8540496" y="84124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CRP</a:t>
            </a:r>
            <a:endParaRPr lang="en-US" sz="1700" dirty="0"/>
          </a:p>
        </p:txBody>
      </p:sp>
      <p:sp>
        <p:nvSpPr>
          <p:cNvPr id="57" name="Shape 55"/>
          <p:cNvSpPr/>
          <p:nvPr/>
        </p:nvSpPr>
        <p:spPr>
          <a:xfrm>
            <a:off x="6309360" y="1335024"/>
            <a:ext cx="786384" cy="201168"/>
          </a:xfrm>
          <a:prstGeom prst="rect">
            <a:avLst/>
          </a:prstGeom>
          <a:solidFill>
            <a:srgbClr val="C9A84C">
              <a:alpha val="2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309360" y="133502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</a:rPr>
              <a:t>Companies Act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291072" y="1335024"/>
            <a:ext cx="25968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Mergers, acquisitions, due diligence, contract drafting, SEBI compliance, corporate restructuring.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181344" y="2267712"/>
            <a:ext cx="2816352" cy="256032"/>
          </a:xfrm>
          <a:prstGeom prst="rect">
            <a:avLst/>
          </a:prstGeom>
          <a:solidFill>
            <a:srgbClr val="112248"/>
          </a:solidFill>
          <a:ln/>
        </p:spPr>
      </p:sp>
      <p:sp>
        <p:nvSpPr>
          <p:cNvPr id="61" name="Shape 59"/>
          <p:cNvSpPr/>
          <p:nvPr/>
        </p:nvSpPr>
        <p:spPr>
          <a:xfrm>
            <a:off x="6181344" y="2267712"/>
            <a:ext cx="2816352" cy="18288"/>
          </a:xfrm>
          <a:prstGeom prst="rect">
            <a:avLst/>
          </a:prstGeom>
          <a:solidFill>
            <a:srgbClr val="C9A84C">
              <a:alpha val="5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291072" y="228600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A84C"/>
                </a:solidFill>
              </a:rPr>
              <a:t>NCLT · High Courts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56032" y="2779776"/>
            <a:ext cx="2816352" cy="1792224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256032" y="2779776"/>
            <a:ext cx="2816352" cy="42062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65" name="Shape 63"/>
          <p:cNvSpPr/>
          <p:nvPr/>
        </p:nvSpPr>
        <p:spPr>
          <a:xfrm>
            <a:off x="2596896" y="2779776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384048" y="2779776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CONSTITUTIONAL LAWYER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2615184" y="2779776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CON</a:t>
            </a:r>
            <a:endParaRPr lang="en-US" sz="1700" dirty="0"/>
          </a:p>
        </p:txBody>
      </p:sp>
      <p:sp>
        <p:nvSpPr>
          <p:cNvPr id="68" name="Shape 66"/>
          <p:cNvSpPr/>
          <p:nvPr/>
        </p:nvSpPr>
        <p:spPr>
          <a:xfrm>
            <a:off x="384048" y="3273552"/>
            <a:ext cx="786384" cy="201168"/>
          </a:xfrm>
          <a:prstGeom prst="rect">
            <a:avLst/>
          </a:prstGeom>
          <a:solidFill>
            <a:srgbClr val="9B59B6">
              <a:alpha val="2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384048" y="327355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B59B6"/>
                </a:solidFill>
              </a:rPr>
              <a:t>Art. 32 · 226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365760" y="3273552"/>
            <a:ext cx="25968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Writ petitions, PILs, fundamental rights litigation, constitutional interpretation.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56032" y="4206240"/>
            <a:ext cx="2816352" cy="256032"/>
          </a:xfrm>
          <a:prstGeom prst="rect">
            <a:avLst/>
          </a:prstGeom>
          <a:solidFill>
            <a:srgbClr val="112248"/>
          </a:solidFill>
          <a:ln/>
        </p:spPr>
      </p:sp>
      <p:sp>
        <p:nvSpPr>
          <p:cNvPr id="72" name="Shape 70"/>
          <p:cNvSpPr/>
          <p:nvPr/>
        </p:nvSpPr>
        <p:spPr>
          <a:xfrm>
            <a:off x="256032" y="4206240"/>
            <a:ext cx="2816352" cy="18288"/>
          </a:xfrm>
          <a:prstGeom prst="rect">
            <a:avLst/>
          </a:prstGeom>
          <a:solidFill>
            <a:srgbClr val="9B59B6">
              <a:alpha val="5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365760" y="422452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59B6"/>
                </a:solidFill>
              </a:rPr>
              <a:t>Supreme Court · HC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218688" y="2779776"/>
            <a:ext cx="2816352" cy="1792224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3218688" y="2779776"/>
            <a:ext cx="2816352" cy="42062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6" name="Shape 74"/>
          <p:cNvSpPr/>
          <p:nvPr/>
        </p:nvSpPr>
        <p:spPr>
          <a:xfrm>
            <a:off x="5559552" y="2779776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3346704" y="2779776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FAMILY LAWYER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5577840" y="2779776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FAM</a:t>
            </a:r>
            <a:endParaRPr lang="en-US" sz="1700" dirty="0"/>
          </a:p>
        </p:txBody>
      </p:sp>
      <p:sp>
        <p:nvSpPr>
          <p:cNvPr id="79" name="Shape 77"/>
          <p:cNvSpPr/>
          <p:nvPr/>
        </p:nvSpPr>
        <p:spPr>
          <a:xfrm>
            <a:off x="3346704" y="3273552"/>
            <a:ext cx="786384" cy="201168"/>
          </a:xfrm>
          <a:prstGeom prst="rect">
            <a:avLst/>
          </a:prstGeom>
          <a:solidFill>
            <a:srgbClr val="E67E22">
              <a:alpha val="20000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3346704" y="327355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67E22"/>
                </a:solidFill>
              </a:rPr>
              <a:t>HMA · PCMA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3328416" y="3273552"/>
            <a:ext cx="25968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Divorce, child custody, maintenance, adoption, domestic violence, succession planning.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3218688" y="4206240"/>
            <a:ext cx="2816352" cy="256032"/>
          </a:xfrm>
          <a:prstGeom prst="rect">
            <a:avLst/>
          </a:prstGeom>
          <a:solidFill>
            <a:srgbClr val="112248"/>
          </a:solidFill>
          <a:ln/>
        </p:spPr>
      </p:sp>
      <p:sp>
        <p:nvSpPr>
          <p:cNvPr id="83" name="Shape 81"/>
          <p:cNvSpPr/>
          <p:nvPr/>
        </p:nvSpPr>
        <p:spPr>
          <a:xfrm>
            <a:off x="3218688" y="4206240"/>
            <a:ext cx="2816352" cy="18288"/>
          </a:xfrm>
          <a:prstGeom prst="rect">
            <a:avLst/>
          </a:prstGeom>
          <a:solidFill>
            <a:srgbClr val="E67E22">
              <a:alpha val="50000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3328416" y="422452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7E22"/>
                </a:solidFill>
              </a:rPr>
              <a:t>Family Court · District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181344" y="2779776"/>
            <a:ext cx="2816352" cy="1792224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6181344" y="2779776"/>
            <a:ext cx="2816352" cy="42062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7" name="Shape 85"/>
          <p:cNvSpPr/>
          <p:nvPr/>
        </p:nvSpPr>
        <p:spPr>
          <a:xfrm>
            <a:off x="8522208" y="2779776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6309360" y="2779776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IP LAWYER</a:t>
            </a:r>
            <a:endParaRPr lang="en-US" sz="1150" dirty="0"/>
          </a:p>
        </p:txBody>
      </p:sp>
      <p:sp>
        <p:nvSpPr>
          <p:cNvPr id="89" name="Text 87"/>
          <p:cNvSpPr/>
          <p:nvPr/>
        </p:nvSpPr>
        <p:spPr>
          <a:xfrm>
            <a:off x="8540496" y="2779776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IPL</a:t>
            </a:r>
            <a:endParaRPr lang="en-US" sz="1700" dirty="0"/>
          </a:p>
        </p:txBody>
      </p:sp>
      <p:sp>
        <p:nvSpPr>
          <p:cNvPr id="90" name="Shape 88"/>
          <p:cNvSpPr/>
          <p:nvPr/>
        </p:nvSpPr>
        <p:spPr>
          <a:xfrm>
            <a:off x="6309360" y="3273552"/>
            <a:ext cx="786384" cy="201168"/>
          </a:xfrm>
          <a:prstGeom prst="rect">
            <a:avLst/>
          </a:prstGeom>
          <a:solidFill>
            <a:srgbClr val="27AE60">
              <a:alpha val="20000"/>
            </a:srgbClr>
          </a:solidFill>
          <a:ln/>
        </p:spPr>
      </p:sp>
      <p:sp>
        <p:nvSpPr>
          <p:cNvPr id="91" name="Text 89"/>
          <p:cNvSpPr/>
          <p:nvPr/>
        </p:nvSpPr>
        <p:spPr>
          <a:xfrm>
            <a:off x="6309360" y="327355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7AE60"/>
                </a:solidFill>
              </a:rPr>
              <a:t>Patents · TM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6291072" y="3273552"/>
            <a:ext cx="25968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Patents, trademarks, copyright, trade secrets, licensing agreements, IP litigation.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6181344" y="4206240"/>
            <a:ext cx="2816352" cy="256032"/>
          </a:xfrm>
          <a:prstGeom prst="rect">
            <a:avLst/>
          </a:prstGeom>
          <a:solidFill>
            <a:srgbClr val="112248"/>
          </a:solidFill>
          <a:ln/>
        </p:spPr>
      </p:sp>
      <p:sp>
        <p:nvSpPr>
          <p:cNvPr id="94" name="Shape 92"/>
          <p:cNvSpPr/>
          <p:nvPr/>
        </p:nvSpPr>
        <p:spPr>
          <a:xfrm>
            <a:off x="6181344" y="4206240"/>
            <a:ext cx="2816352" cy="18288"/>
          </a:xfrm>
          <a:prstGeom prst="rect">
            <a:avLst/>
          </a:prstGeom>
          <a:solidFill>
            <a:srgbClr val="27AE60">
              <a:alpha val="50000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6291072" y="422452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7AE60"/>
                </a:solidFill>
              </a:rPr>
              <a:t>IP Appellate Board · HC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256032" y="4443984"/>
            <a:ext cx="8631936" cy="402336"/>
          </a:xfrm>
          <a:prstGeom prst="rect">
            <a:avLst/>
          </a:prstGeom>
          <a:solidFill>
            <a:srgbClr val="070B1A"/>
          </a:solidFill>
          <a:ln/>
        </p:spPr>
      </p:sp>
      <p:sp>
        <p:nvSpPr>
          <p:cNvPr id="97" name="Shape 95"/>
          <p:cNvSpPr/>
          <p:nvPr/>
        </p:nvSpPr>
        <p:spPr>
          <a:xfrm>
            <a:off x="256032" y="4443984"/>
            <a:ext cx="8631936" cy="3291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8" name="Shape 96"/>
          <p:cNvSpPr/>
          <p:nvPr/>
        </p:nvSpPr>
        <p:spPr>
          <a:xfrm>
            <a:off x="256032" y="4443984"/>
            <a:ext cx="32918" cy="4023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9" name="Shape 97"/>
          <p:cNvSpPr/>
          <p:nvPr/>
        </p:nvSpPr>
        <p:spPr>
          <a:xfrm>
            <a:off x="457200" y="4562856"/>
            <a:ext cx="164592" cy="164592"/>
          </a:xfrm>
          <a:prstGeom prst="ellipse">
            <a:avLst/>
          </a:prstGeom>
          <a:solidFill>
            <a:srgbClr val="C9A84C">
              <a:alpha val="55000"/>
            </a:srgbClr>
          </a:solidFill>
          <a:ln/>
        </p:spPr>
      </p:sp>
      <p:sp>
        <p:nvSpPr>
          <p:cNvPr id="100" name="Text 98"/>
          <p:cNvSpPr/>
          <p:nvPr/>
        </p:nvSpPr>
        <p:spPr>
          <a:xfrm>
            <a:off x="731520" y="44805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C9A84C"/>
                </a:solidFill>
              </a:rPr>
              <a:t>KEY INSIGHT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1700784" y="4535424"/>
            <a:ext cx="20117" cy="2194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2" name="Text 100"/>
          <p:cNvSpPr/>
          <p:nvPr/>
        </p:nvSpPr>
        <p:spPr>
          <a:xfrm>
            <a:off x="1792224" y="4480560"/>
            <a:ext cx="6986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India has 1.7 million enrolled advocates — the world's second-largest legal profession. Specialisation drives expertise and client outcomes.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104" name="Shape 102"/>
          <p:cNvSpPr/>
          <p:nvPr/>
        </p:nvSpPr>
        <p:spPr>
          <a:xfrm>
            <a:off x="0" y="4878324"/>
            <a:ext cx="91440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46304" y="4910328"/>
            <a:ext cx="128016" cy="128016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06" name="Text 104"/>
          <p:cNvSpPr/>
          <p:nvPr/>
        </p:nvSpPr>
        <p:spPr>
          <a:xfrm>
            <a:off x="402336" y="48828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E9F"/>
                </a:solidFill>
              </a:rPr>
              <a:t>LexForge AI  ·  AI-Powered Indian Legal Document Platform  ·  Justice · Precision · Technology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9536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19072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578608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438144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297680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157216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Shape 19"/>
          <p:cNvSpPr/>
          <p:nvPr/>
        </p:nvSpPr>
        <p:spPr>
          <a:xfrm>
            <a:off x="8394192" y="91440"/>
            <a:ext cx="137160" cy="137160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77072" y="219456"/>
            <a:ext cx="91440" cy="91440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284464" y="246888"/>
            <a:ext cx="73152" cy="73152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19456" y="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THE JUDICIAL SYSTEM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19456" y="429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E9F"/>
                </a:solidFill>
              </a:rPr>
              <a:t>India's Four-Tier Court Hierarchy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79792" y="91440"/>
            <a:ext cx="1554480" cy="548640"/>
          </a:xfrm>
          <a:prstGeom prst="rect">
            <a:avLst/>
          </a:prstGeom>
          <a:solidFill>
            <a:srgbClr val="C9A84C">
              <a:alpha val="1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479792" y="91440"/>
            <a:ext cx="15544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Shape 26"/>
          <p:cNvSpPr/>
          <p:nvPr/>
        </p:nvSpPr>
        <p:spPr>
          <a:xfrm>
            <a:off x="7479792" y="91440"/>
            <a:ext cx="36576" cy="548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9" name="Text 27"/>
          <p:cNvSpPr/>
          <p:nvPr/>
        </p:nvSpPr>
        <p:spPr>
          <a:xfrm>
            <a:off x="7516368" y="128016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DFA0"/>
                </a:solidFill>
              </a:rPr>
              <a:t>Chapter 05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61488" y="859536"/>
            <a:ext cx="3108960" cy="804672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61488" y="859536"/>
            <a:ext cx="310896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2" name="Shape 30"/>
          <p:cNvSpPr/>
          <p:nvPr/>
        </p:nvSpPr>
        <p:spPr>
          <a:xfrm>
            <a:off x="2761488" y="859536"/>
            <a:ext cx="36576" cy="8046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Shape 31"/>
          <p:cNvSpPr/>
          <p:nvPr/>
        </p:nvSpPr>
        <p:spPr>
          <a:xfrm>
            <a:off x="2852928" y="1042416"/>
            <a:ext cx="402336" cy="402336"/>
          </a:xfrm>
          <a:prstGeom prst="ellipse">
            <a:avLst/>
          </a:prstGeom>
          <a:solidFill>
            <a:srgbClr val="C0392B">
              <a:alpha val="3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852928" y="1042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</a:rPr>
              <a:t>T1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83280" y="932688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</a:rPr>
              <a:t>SUPREME COURT OF INDIA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383280" y="1243584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2F0"/>
                </a:solidFill>
              </a:rPr>
              <a:t>Apex Court — Final arbiter of Constitution &amp; law (Art. 124–147)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97680" y="1664208"/>
            <a:ext cx="36576" cy="36576"/>
          </a:xfrm>
          <a:prstGeom prst="rect">
            <a:avLst/>
          </a:prstGeom>
          <a:solidFill>
            <a:srgbClr val="C0392B">
              <a:alpha val="5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664208" y="1719072"/>
            <a:ext cx="5303520" cy="786384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664208" y="1719072"/>
            <a:ext cx="53035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0" name="Shape 38"/>
          <p:cNvSpPr/>
          <p:nvPr/>
        </p:nvSpPr>
        <p:spPr>
          <a:xfrm>
            <a:off x="1664208" y="1719072"/>
            <a:ext cx="36576" cy="78638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1" name="Shape 39"/>
          <p:cNvSpPr/>
          <p:nvPr/>
        </p:nvSpPr>
        <p:spPr>
          <a:xfrm>
            <a:off x="1755648" y="1901952"/>
            <a:ext cx="402336" cy="402336"/>
          </a:xfrm>
          <a:prstGeom prst="ellipse">
            <a:avLst/>
          </a:prstGeom>
          <a:solidFill>
            <a:srgbClr val="C9A84C">
              <a:alpha val="3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755648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</a:rPr>
              <a:t>T2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286000" y="1792224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</a:rPr>
              <a:t>HIGH COURTS (25 in India)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286000" y="2103120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2F0"/>
                </a:solidFill>
              </a:rPr>
              <a:t>Constitutional Courts — Supervisory jurisdiction over all subordinate courts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297680" y="2505456"/>
            <a:ext cx="36576" cy="36576"/>
          </a:xfrm>
          <a:prstGeom prst="rect">
            <a:avLst/>
          </a:prstGeom>
          <a:solidFill>
            <a:srgbClr val="C9A84C">
              <a:alpha val="5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58368" y="2542032"/>
            <a:ext cx="7315200" cy="749808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58368" y="2542032"/>
            <a:ext cx="73152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8" name="Shape 46"/>
          <p:cNvSpPr/>
          <p:nvPr/>
        </p:nvSpPr>
        <p:spPr>
          <a:xfrm>
            <a:off x="658368" y="2542032"/>
            <a:ext cx="36576" cy="74980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9" name="Shape 47"/>
          <p:cNvSpPr/>
          <p:nvPr/>
        </p:nvSpPr>
        <p:spPr>
          <a:xfrm>
            <a:off x="749808" y="2724912"/>
            <a:ext cx="402336" cy="402336"/>
          </a:xfrm>
          <a:prstGeom prst="ellipse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49808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</a:rPr>
              <a:t>T3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280160" y="2615184"/>
            <a:ext cx="6565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D9"/>
                </a:solidFill>
              </a:rPr>
              <a:t>DISTRICT COURTS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280160" y="2926080"/>
            <a:ext cx="6565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2F0"/>
                </a:solidFill>
              </a:rPr>
              <a:t>District &amp; Sessions Judge — Chief Judicial Authority of a District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297680" y="3291840"/>
            <a:ext cx="36576" cy="36576"/>
          </a:xfrm>
          <a:prstGeom prst="rect">
            <a:avLst/>
          </a:prstGeom>
          <a:solidFill>
            <a:srgbClr val="4A90D9">
              <a:alpha val="5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0" y="3337560"/>
            <a:ext cx="8631936" cy="749808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0" y="3337560"/>
            <a:ext cx="8631936" cy="36576"/>
          </a:xfrm>
          <a:prstGeom prst="rect">
            <a:avLst/>
          </a:prstGeom>
          <a:solidFill>
            <a:srgbClr val="6B7E9F"/>
          </a:solidFill>
          <a:ln/>
        </p:spPr>
      </p:sp>
      <p:sp>
        <p:nvSpPr>
          <p:cNvPr id="56" name="Shape 54"/>
          <p:cNvSpPr/>
          <p:nvPr/>
        </p:nvSpPr>
        <p:spPr>
          <a:xfrm>
            <a:off x="0" y="3337560"/>
            <a:ext cx="36576" cy="749808"/>
          </a:xfrm>
          <a:prstGeom prst="rect">
            <a:avLst/>
          </a:prstGeom>
          <a:solidFill>
            <a:srgbClr val="6B7E9F"/>
          </a:solidFill>
          <a:ln/>
        </p:spPr>
      </p:sp>
      <p:sp>
        <p:nvSpPr>
          <p:cNvPr id="57" name="Shape 55"/>
          <p:cNvSpPr/>
          <p:nvPr/>
        </p:nvSpPr>
        <p:spPr>
          <a:xfrm>
            <a:off x="91440" y="3520440"/>
            <a:ext cx="402336" cy="402336"/>
          </a:xfrm>
          <a:prstGeom prst="ellipse">
            <a:avLst/>
          </a:prstGeom>
          <a:solidFill>
            <a:srgbClr val="6B7E9F">
              <a:alpha val="3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91440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E9F"/>
                </a:solidFill>
              </a:rPr>
              <a:t>T4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21792" y="3410712"/>
            <a:ext cx="7882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E9F"/>
                </a:solidFill>
              </a:rPr>
              <a:t>SUBORDINATE COURTS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21792" y="3721608"/>
            <a:ext cx="7882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2F0"/>
                </a:solidFill>
              </a:rPr>
              <a:t>Munsiff · Civil Judge · Judicial Magistrate · Executive Magistrate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188720" y="4114800"/>
            <a:ext cx="2194560" cy="274320"/>
          </a:xfrm>
          <a:prstGeom prst="rect">
            <a:avLst/>
          </a:prstGeom>
          <a:solidFill>
            <a:srgbClr val="112248"/>
          </a:solidFill>
          <a:ln/>
        </p:spPr>
      </p:sp>
      <p:sp>
        <p:nvSpPr>
          <p:cNvPr id="62" name="Shape 60"/>
          <p:cNvSpPr/>
          <p:nvPr/>
        </p:nvSpPr>
        <p:spPr>
          <a:xfrm>
            <a:off x="1188720" y="4114800"/>
            <a:ext cx="219456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3" name="Shape 61"/>
          <p:cNvSpPr/>
          <p:nvPr/>
        </p:nvSpPr>
        <p:spPr>
          <a:xfrm>
            <a:off x="1298448" y="4142232"/>
            <a:ext cx="146304" cy="146304"/>
          </a:xfrm>
          <a:prstGeom prst="ellipse">
            <a:avLst/>
          </a:prstGeom>
          <a:solidFill>
            <a:srgbClr val="C9A84C">
              <a:alpha val="55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463040" y="411480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</a:rPr>
              <a:t>25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463040" y="4251960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E9F"/>
                </a:solidFill>
              </a:rPr>
              <a:t>High Courts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566160" y="4114800"/>
            <a:ext cx="2194560" cy="274320"/>
          </a:xfrm>
          <a:prstGeom prst="rect">
            <a:avLst/>
          </a:prstGeom>
          <a:solidFill>
            <a:srgbClr val="112248"/>
          </a:solidFill>
          <a:ln/>
        </p:spPr>
      </p:sp>
      <p:sp>
        <p:nvSpPr>
          <p:cNvPr id="67" name="Shape 65"/>
          <p:cNvSpPr/>
          <p:nvPr/>
        </p:nvSpPr>
        <p:spPr>
          <a:xfrm>
            <a:off x="3566160" y="4114800"/>
            <a:ext cx="2194560" cy="228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8" name="Shape 66"/>
          <p:cNvSpPr/>
          <p:nvPr/>
        </p:nvSpPr>
        <p:spPr>
          <a:xfrm>
            <a:off x="3675888" y="4142232"/>
            <a:ext cx="146304" cy="146304"/>
          </a:xfrm>
          <a:prstGeom prst="ellipse">
            <a:avLst/>
          </a:prstGeom>
          <a:solidFill>
            <a:srgbClr val="4A90D9">
              <a:alpha val="55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3840480" y="411480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253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3840480" y="4251960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E9F"/>
                </a:solidFill>
              </a:rPr>
              <a:t>District Courts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943600" y="4114800"/>
            <a:ext cx="2194560" cy="274320"/>
          </a:xfrm>
          <a:prstGeom prst="rect">
            <a:avLst/>
          </a:prstGeom>
          <a:solidFill>
            <a:srgbClr val="112248"/>
          </a:solidFill>
          <a:ln/>
        </p:spPr>
      </p:sp>
      <p:sp>
        <p:nvSpPr>
          <p:cNvPr id="72" name="Shape 70"/>
          <p:cNvSpPr/>
          <p:nvPr/>
        </p:nvSpPr>
        <p:spPr>
          <a:xfrm>
            <a:off x="5943600" y="4114800"/>
            <a:ext cx="2194560" cy="228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3" name="Shape 71"/>
          <p:cNvSpPr/>
          <p:nvPr/>
        </p:nvSpPr>
        <p:spPr>
          <a:xfrm>
            <a:off x="6053328" y="4142232"/>
            <a:ext cx="146304" cy="146304"/>
          </a:xfrm>
          <a:prstGeom prst="ellipse">
            <a:avLst/>
          </a:prstGeom>
          <a:solidFill>
            <a:srgbClr val="27AE60">
              <a:alpha val="55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6217920" y="411480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</a:rPr>
              <a:t>25,000+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217920" y="4251960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E9F"/>
                </a:solidFill>
              </a:rPr>
              <a:t>Subordinate Courts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256032" y="4443984"/>
            <a:ext cx="8631936" cy="402336"/>
          </a:xfrm>
          <a:prstGeom prst="rect">
            <a:avLst/>
          </a:prstGeom>
          <a:solidFill>
            <a:srgbClr val="070B1A"/>
          </a:solidFill>
          <a:ln/>
        </p:spPr>
      </p:sp>
      <p:sp>
        <p:nvSpPr>
          <p:cNvPr id="77" name="Shape 75"/>
          <p:cNvSpPr/>
          <p:nvPr/>
        </p:nvSpPr>
        <p:spPr>
          <a:xfrm>
            <a:off x="256032" y="4443984"/>
            <a:ext cx="8631936" cy="3291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8" name="Shape 76"/>
          <p:cNvSpPr/>
          <p:nvPr/>
        </p:nvSpPr>
        <p:spPr>
          <a:xfrm>
            <a:off x="256032" y="4443984"/>
            <a:ext cx="32918" cy="4023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9" name="Shape 77"/>
          <p:cNvSpPr/>
          <p:nvPr/>
        </p:nvSpPr>
        <p:spPr>
          <a:xfrm>
            <a:off x="457200" y="4562856"/>
            <a:ext cx="164592" cy="164592"/>
          </a:xfrm>
          <a:prstGeom prst="ellipse">
            <a:avLst/>
          </a:prstGeom>
          <a:solidFill>
            <a:srgbClr val="C9A84C">
              <a:alpha val="55000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731520" y="44805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C9A84C"/>
                </a:solidFill>
              </a:rPr>
              <a:t>KEY INSIGHT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1700784" y="4535424"/>
            <a:ext cx="20117" cy="2194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2" name="Text 80"/>
          <p:cNvSpPr/>
          <p:nvPr/>
        </p:nvSpPr>
        <p:spPr>
          <a:xfrm>
            <a:off x="1792224" y="4480560"/>
            <a:ext cx="6986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India's 50 million+ pending cases highlight why AI tools like LexForge — enabling faster drafting and research — are transformative for the judiciary.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84" name="Shape 82"/>
          <p:cNvSpPr/>
          <p:nvPr/>
        </p:nvSpPr>
        <p:spPr>
          <a:xfrm>
            <a:off x="0" y="4878324"/>
            <a:ext cx="91440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5" name="Shape 83"/>
          <p:cNvSpPr/>
          <p:nvPr/>
        </p:nvSpPr>
        <p:spPr>
          <a:xfrm>
            <a:off x="146304" y="4910328"/>
            <a:ext cx="128016" cy="128016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6" name="Text 84"/>
          <p:cNvSpPr/>
          <p:nvPr/>
        </p:nvSpPr>
        <p:spPr>
          <a:xfrm>
            <a:off x="402336" y="48828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E9F"/>
                </a:solidFill>
              </a:rPr>
              <a:t>LexForge AI  ·  AI-Powered Indian Legal Document Platform  ·  Justice · Precision · Technology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9536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19072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578608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438144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297680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157216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Shape 19"/>
          <p:cNvSpPr/>
          <p:nvPr/>
        </p:nvSpPr>
        <p:spPr>
          <a:xfrm>
            <a:off x="8394192" y="91440"/>
            <a:ext cx="137160" cy="137160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77072" y="219456"/>
            <a:ext cx="91440" cy="91440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284464" y="246888"/>
            <a:ext cx="73152" cy="73152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19456" y="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LEGAL PROCESS EXPLAINED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19456" y="429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E9F"/>
                </a:solidFill>
              </a:rPr>
              <a:t>From Filing to Final Judgment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79792" y="91440"/>
            <a:ext cx="1554480" cy="548640"/>
          </a:xfrm>
          <a:prstGeom prst="rect">
            <a:avLst/>
          </a:prstGeom>
          <a:solidFill>
            <a:srgbClr val="C9A84C">
              <a:alpha val="1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479792" y="91440"/>
            <a:ext cx="15544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Shape 26"/>
          <p:cNvSpPr/>
          <p:nvPr/>
        </p:nvSpPr>
        <p:spPr>
          <a:xfrm>
            <a:off x="7479792" y="91440"/>
            <a:ext cx="36576" cy="548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9" name="Text 27"/>
          <p:cNvSpPr/>
          <p:nvPr/>
        </p:nvSpPr>
        <p:spPr>
          <a:xfrm>
            <a:off x="7516368" y="128016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DFA0"/>
                </a:solidFill>
              </a:rPr>
              <a:t>Chapter 06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" y="2304288"/>
            <a:ext cx="8631936" cy="36576"/>
          </a:xfrm>
          <a:prstGeom prst="rect">
            <a:avLst/>
          </a:prstGeom>
          <a:solidFill>
            <a:srgbClr val="1A2E60"/>
          </a:solidFill>
          <a:ln/>
        </p:spPr>
      </p:sp>
      <p:sp>
        <p:nvSpPr>
          <p:cNvPr id="31" name="Shape 29"/>
          <p:cNvSpPr/>
          <p:nvPr/>
        </p:nvSpPr>
        <p:spPr>
          <a:xfrm>
            <a:off x="768096" y="2148840"/>
            <a:ext cx="512064" cy="512064"/>
          </a:xfrm>
          <a:prstGeom prst="ellipse">
            <a:avLst/>
          </a:prstGeom>
          <a:solidFill>
            <a:srgbClr val="C9A84C"/>
          </a:solidFill>
          <a:ln/>
          <a:effectLst>
            <a:outerShdw blurRad="254000" dist="50800" dir="16200000" algn="bl" rotWithShape="0">
              <a:srgbClr val="C9A84C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68096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102A"/>
                </a:solidFill>
              </a:rPr>
              <a:t>1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74320" y="841248"/>
            <a:ext cx="1591056" cy="1243584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841248"/>
            <a:ext cx="1591056" cy="42062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5" name="Shape 33"/>
          <p:cNvSpPr/>
          <p:nvPr/>
        </p:nvSpPr>
        <p:spPr>
          <a:xfrm>
            <a:off x="1389888" y="841248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02336" y="84124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FILING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65760" y="1316736"/>
            <a:ext cx="1408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Complaint / Plaint filed with court. Summons issued to opposite party.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920240" y="2185416"/>
            <a:ext cx="201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A84C"/>
                </a:solidFill>
              </a:rPr>
              <a:t>▶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2724912"/>
            <a:ext cx="1591056" cy="1645920"/>
          </a:xfrm>
          <a:prstGeom prst="rect">
            <a:avLst/>
          </a:prstGeom>
          <a:solidFill>
            <a:srgbClr val="112248"/>
          </a:solidFill>
          <a:ln/>
        </p:spPr>
      </p:sp>
      <p:sp>
        <p:nvSpPr>
          <p:cNvPr id="40" name="Shape 38"/>
          <p:cNvSpPr/>
          <p:nvPr/>
        </p:nvSpPr>
        <p:spPr>
          <a:xfrm>
            <a:off x="274320" y="2724912"/>
            <a:ext cx="36576" cy="1645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1" name="Text 39"/>
          <p:cNvSpPr/>
          <p:nvPr/>
        </p:nvSpPr>
        <p:spPr>
          <a:xfrm>
            <a:off x="384048" y="2761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</a:rPr>
              <a:t>FILE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84048" y="3072384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- Plaint / Complaint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84048" y="347472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- Vakalatnama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84048" y="387705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- Court Fees Challan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05456" y="2148840"/>
            <a:ext cx="512064" cy="512064"/>
          </a:xfrm>
          <a:prstGeom prst="ellipse">
            <a:avLst/>
          </a:prstGeom>
          <a:solidFill>
            <a:srgbClr val="4A90D9"/>
          </a:solidFill>
          <a:ln/>
          <a:effectLst>
            <a:outerShdw blurRad="254000" dist="50800" dir="16200000" algn="bl" rotWithShape="0">
              <a:srgbClr val="4A90D9">
                <a:alpha val="3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505456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102A"/>
                </a:solidFill>
              </a:rPr>
              <a:t>2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011680" y="841248"/>
            <a:ext cx="1591056" cy="1243584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011680" y="841248"/>
            <a:ext cx="1591056" cy="42062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9" name="Shape 47"/>
          <p:cNvSpPr/>
          <p:nvPr/>
        </p:nvSpPr>
        <p:spPr>
          <a:xfrm>
            <a:off x="3127248" y="841248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2139696" y="84124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INQUIRY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2103120" y="1316736"/>
            <a:ext cx="1408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Police inquiry (criminal) or discovery / interrogatories (civil). Evidence collected.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657600" y="2185416"/>
            <a:ext cx="201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0D9"/>
                </a:solidFill>
              </a:rPr>
              <a:t>▶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011680" y="2724912"/>
            <a:ext cx="1591056" cy="1645920"/>
          </a:xfrm>
          <a:prstGeom prst="rect">
            <a:avLst/>
          </a:prstGeom>
          <a:solidFill>
            <a:srgbClr val="112248"/>
          </a:solidFill>
          <a:ln/>
        </p:spPr>
      </p:sp>
      <p:sp>
        <p:nvSpPr>
          <p:cNvPr id="54" name="Shape 52"/>
          <p:cNvSpPr/>
          <p:nvPr/>
        </p:nvSpPr>
        <p:spPr>
          <a:xfrm>
            <a:off x="2011680" y="2724912"/>
            <a:ext cx="36576" cy="1645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5" name="Text 53"/>
          <p:cNvSpPr/>
          <p:nvPr/>
        </p:nvSpPr>
        <p:spPr>
          <a:xfrm>
            <a:off x="2121408" y="2761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A90D9"/>
                </a:solidFill>
              </a:rPr>
              <a:t>INVS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121408" y="3072384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- FIR / NCR Copy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121408" y="347472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- Chargesheet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121408" y="387705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- Discovery Notice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242816" y="2148840"/>
            <a:ext cx="512064" cy="512064"/>
          </a:xfrm>
          <a:prstGeom prst="ellipse">
            <a:avLst/>
          </a:prstGeom>
          <a:solidFill>
            <a:srgbClr val="9B59B6"/>
          </a:solidFill>
          <a:ln/>
          <a:effectLst>
            <a:outerShdw blurRad="254000" dist="50800" dir="16200000" algn="bl" rotWithShape="0">
              <a:srgbClr val="9B59B6">
                <a:alpha val="3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242816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102A"/>
                </a:solidFill>
              </a:rPr>
              <a:t>3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3749040" y="841248"/>
            <a:ext cx="1591056" cy="1243584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749040" y="841248"/>
            <a:ext cx="1591056" cy="42062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63" name="Shape 61"/>
          <p:cNvSpPr/>
          <p:nvPr/>
        </p:nvSpPr>
        <p:spPr>
          <a:xfrm>
            <a:off x="4864608" y="841248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3877056" y="84124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TRIAL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3840480" y="1316736"/>
            <a:ext cx="1408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Arguments, evidence, examination and cross-examination of witnesses before the judge.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394960" y="2185416"/>
            <a:ext cx="201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B59B6"/>
                </a:solidFill>
              </a:rPr>
              <a:t>▶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749040" y="2724912"/>
            <a:ext cx="1591056" cy="1645920"/>
          </a:xfrm>
          <a:prstGeom prst="rect">
            <a:avLst/>
          </a:prstGeom>
          <a:solidFill>
            <a:srgbClr val="112248"/>
          </a:solidFill>
          <a:ln/>
        </p:spPr>
      </p:sp>
      <p:sp>
        <p:nvSpPr>
          <p:cNvPr id="68" name="Shape 66"/>
          <p:cNvSpPr/>
          <p:nvPr/>
        </p:nvSpPr>
        <p:spPr>
          <a:xfrm>
            <a:off x="3749040" y="2724912"/>
            <a:ext cx="36576" cy="16459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69" name="Text 67"/>
          <p:cNvSpPr/>
          <p:nvPr/>
        </p:nvSpPr>
        <p:spPr>
          <a:xfrm>
            <a:off x="3858768" y="2761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B59B6"/>
                </a:solidFill>
              </a:rPr>
              <a:t>TRIAL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858768" y="3072384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- Written Statement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3858768" y="347472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- Affidavit-in-Evidence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3858768" y="387705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- Exhibits List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980176" y="2148840"/>
            <a:ext cx="512064" cy="512064"/>
          </a:xfrm>
          <a:prstGeom prst="ellipse">
            <a:avLst/>
          </a:prstGeom>
          <a:solidFill>
            <a:srgbClr val="27AE60"/>
          </a:solidFill>
          <a:ln/>
          <a:effectLst>
            <a:outerShdw blurRad="254000" dist="50800" dir="16200000" algn="bl" rotWithShape="0">
              <a:srgbClr val="27AE60">
                <a:alpha val="35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5980176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102A"/>
                </a:solidFill>
              </a:rPr>
              <a:t>4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5486400" y="841248"/>
            <a:ext cx="1591056" cy="1243584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5486400" y="841248"/>
            <a:ext cx="1591056" cy="42062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7" name="Shape 75"/>
          <p:cNvSpPr/>
          <p:nvPr/>
        </p:nvSpPr>
        <p:spPr>
          <a:xfrm>
            <a:off x="6601968" y="841248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5614416" y="84124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JUDGMENT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5577840" y="1316736"/>
            <a:ext cx="1408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Court delivers verdict — acquittal / conviction (criminal) or decree (civil).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7132320" y="2185416"/>
            <a:ext cx="201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7AE60"/>
                </a:solidFill>
              </a:rPr>
              <a:t>▶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5486400" y="2724912"/>
            <a:ext cx="1591056" cy="1645920"/>
          </a:xfrm>
          <a:prstGeom prst="rect">
            <a:avLst/>
          </a:prstGeom>
          <a:solidFill>
            <a:srgbClr val="112248"/>
          </a:solidFill>
          <a:ln/>
        </p:spPr>
      </p:sp>
      <p:sp>
        <p:nvSpPr>
          <p:cNvPr id="82" name="Shape 80"/>
          <p:cNvSpPr/>
          <p:nvPr/>
        </p:nvSpPr>
        <p:spPr>
          <a:xfrm>
            <a:off x="5486400" y="2724912"/>
            <a:ext cx="36576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3" name="Text 81"/>
          <p:cNvSpPr/>
          <p:nvPr/>
        </p:nvSpPr>
        <p:spPr>
          <a:xfrm>
            <a:off x="5596128" y="2761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7AE60"/>
                </a:solidFill>
              </a:rPr>
              <a:t>JUDG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5596128" y="3072384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- Decree / Order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5596128" y="347472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- Certified Copy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5596128" y="387705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- Execution Petition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7717536" y="2148840"/>
            <a:ext cx="512064" cy="512064"/>
          </a:xfrm>
          <a:prstGeom prst="ellipse">
            <a:avLst/>
          </a:prstGeom>
          <a:solidFill>
            <a:srgbClr val="C0392B"/>
          </a:solidFill>
          <a:ln/>
          <a:effectLst>
            <a:outerShdw blurRad="254000" dist="50800" dir="16200000" algn="bl" rotWithShape="0">
              <a:srgbClr val="C0392B">
                <a:alpha val="35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7717536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102A"/>
                </a:solidFill>
              </a:rPr>
              <a:t>5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7223760" y="841248"/>
            <a:ext cx="1591056" cy="1243584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7223760" y="841248"/>
            <a:ext cx="1591056" cy="42062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1" name="Shape 89"/>
          <p:cNvSpPr/>
          <p:nvPr/>
        </p:nvSpPr>
        <p:spPr>
          <a:xfrm>
            <a:off x="8339328" y="841248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92" name="Text 90"/>
          <p:cNvSpPr/>
          <p:nvPr/>
        </p:nvSpPr>
        <p:spPr>
          <a:xfrm>
            <a:off x="7351776" y="84124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APPEALS</a:t>
            </a:r>
            <a:endParaRPr lang="en-US" sz="1150" dirty="0"/>
          </a:p>
        </p:txBody>
      </p:sp>
      <p:sp>
        <p:nvSpPr>
          <p:cNvPr id="93" name="Text 91"/>
          <p:cNvSpPr/>
          <p:nvPr/>
        </p:nvSpPr>
        <p:spPr>
          <a:xfrm>
            <a:off x="7315200" y="1316736"/>
            <a:ext cx="1408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Aggrieved party appeals to higher court — District → High Court → Supreme Court.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7223760" y="2724912"/>
            <a:ext cx="1591056" cy="1645920"/>
          </a:xfrm>
          <a:prstGeom prst="rect">
            <a:avLst/>
          </a:prstGeom>
          <a:solidFill>
            <a:srgbClr val="112248"/>
          </a:solidFill>
          <a:ln/>
        </p:spPr>
      </p:sp>
      <p:sp>
        <p:nvSpPr>
          <p:cNvPr id="95" name="Shape 93"/>
          <p:cNvSpPr/>
          <p:nvPr/>
        </p:nvSpPr>
        <p:spPr>
          <a:xfrm>
            <a:off x="7223760" y="2724912"/>
            <a:ext cx="36576" cy="1645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6" name="Text 94"/>
          <p:cNvSpPr/>
          <p:nvPr/>
        </p:nvSpPr>
        <p:spPr>
          <a:xfrm>
            <a:off x="7333488" y="2761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0392B"/>
                </a:solidFill>
              </a:rPr>
              <a:t>APPL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7333488" y="3072384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- Memo of Appeal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7333488" y="347472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- Stay Application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7333488" y="3877056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- Grounds of Appeal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256032" y="4443984"/>
            <a:ext cx="8631936" cy="402336"/>
          </a:xfrm>
          <a:prstGeom prst="rect">
            <a:avLst/>
          </a:prstGeom>
          <a:solidFill>
            <a:srgbClr val="070B1A"/>
          </a:solidFill>
          <a:ln/>
        </p:spPr>
      </p:sp>
      <p:sp>
        <p:nvSpPr>
          <p:cNvPr id="101" name="Shape 99"/>
          <p:cNvSpPr/>
          <p:nvPr/>
        </p:nvSpPr>
        <p:spPr>
          <a:xfrm>
            <a:off x="256032" y="4443984"/>
            <a:ext cx="8631936" cy="3291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2" name="Shape 100"/>
          <p:cNvSpPr/>
          <p:nvPr/>
        </p:nvSpPr>
        <p:spPr>
          <a:xfrm>
            <a:off x="256032" y="4443984"/>
            <a:ext cx="32918" cy="4023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3" name="Shape 101"/>
          <p:cNvSpPr/>
          <p:nvPr/>
        </p:nvSpPr>
        <p:spPr>
          <a:xfrm>
            <a:off x="457200" y="4562856"/>
            <a:ext cx="164592" cy="164592"/>
          </a:xfrm>
          <a:prstGeom prst="ellipse">
            <a:avLst/>
          </a:prstGeom>
          <a:solidFill>
            <a:srgbClr val="C9A84C">
              <a:alpha val="55000"/>
            </a:srgbClr>
          </a:solidFill>
          <a:ln/>
        </p:spPr>
      </p:sp>
      <p:sp>
        <p:nvSpPr>
          <p:cNvPr id="104" name="Text 102"/>
          <p:cNvSpPr/>
          <p:nvPr/>
        </p:nvSpPr>
        <p:spPr>
          <a:xfrm>
            <a:off x="731520" y="44805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C9A84C"/>
                </a:solidFill>
              </a:rPr>
              <a:t>KEY INSIGHT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1700784" y="4535424"/>
            <a:ext cx="20117" cy="2194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6" name="Text 104"/>
          <p:cNvSpPr/>
          <p:nvPr/>
        </p:nvSpPr>
        <p:spPr>
          <a:xfrm>
            <a:off x="1792224" y="4480560"/>
            <a:ext cx="6986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Each step of the legal process generates specific documents — LexForge AI drafts 19 of these court-ready documents in under 30 seconds.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108" name="Shape 106"/>
          <p:cNvSpPr/>
          <p:nvPr/>
        </p:nvSpPr>
        <p:spPr>
          <a:xfrm>
            <a:off x="0" y="4878324"/>
            <a:ext cx="91440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46304" y="4910328"/>
            <a:ext cx="128016" cy="128016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10" name="Text 108"/>
          <p:cNvSpPr/>
          <p:nvPr/>
        </p:nvSpPr>
        <p:spPr>
          <a:xfrm>
            <a:off x="402336" y="48828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E9F"/>
                </a:solidFill>
              </a:rPr>
              <a:t>LexForge AI  ·  AI-Powered Indian Legal Document Platform  ·  Justice · Precision · Technology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9536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19072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578608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438144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297680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157216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Shape 19"/>
          <p:cNvSpPr/>
          <p:nvPr/>
        </p:nvSpPr>
        <p:spPr>
          <a:xfrm>
            <a:off x="8394192" y="91440"/>
            <a:ext cx="137160" cy="137160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77072" y="219456"/>
            <a:ext cx="91440" cy="91440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284464" y="246888"/>
            <a:ext cx="73152" cy="73152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19456" y="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REQUIRED TO BECOME A SUCCESSFUL LAWYER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19456" y="429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E9F"/>
                </a:solidFill>
              </a:rPr>
              <a:t>The Professional Toolkit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79792" y="91440"/>
            <a:ext cx="1554480" cy="548640"/>
          </a:xfrm>
          <a:prstGeom prst="rect">
            <a:avLst/>
          </a:prstGeom>
          <a:solidFill>
            <a:srgbClr val="C9A84C">
              <a:alpha val="1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479792" y="91440"/>
            <a:ext cx="15544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Shape 26"/>
          <p:cNvSpPr/>
          <p:nvPr/>
        </p:nvSpPr>
        <p:spPr>
          <a:xfrm>
            <a:off x="7479792" y="91440"/>
            <a:ext cx="36576" cy="548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9" name="Text 27"/>
          <p:cNvSpPr/>
          <p:nvPr/>
        </p:nvSpPr>
        <p:spPr>
          <a:xfrm>
            <a:off x="7516368" y="128016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DFA0"/>
                </a:solidFill>
              </a:rPr>
              <a:t>Chapter 07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" y="822960"/>
            <a:ext cx="5029200" cy="3547872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822960"/>
            <a:ext cx="5029200" cy="42062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2" name="Shape 30"/>
          <p:cNvSpPr/>
          <p:nvPr/>
        </p:nvSpPr>
        <p:spPr>
          <a:xfrm>
            <a:off x="4809744" y="822960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82296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CORE COMPETENCY RADAR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84048" y="13350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84C"/>
                </a:solidFill>
              </a:rPr>
              <a:t>COMMUNICATION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066544" y="1389888"/>
            <a:ext cx="3017520" cy="219456"/>
          </a:xfrm>
          <a:prstGeom prst="rect">
            <a:avLst/>
          </a:prstGeom>
          <a:solidFill>
            <a:srgbClr val="112248"/>
          </a:solidFill>
          <a:ln/>
        </p:spPr>
      </p:sp>
      <p:sp>
        <p:nvSpPr>
          <p:cNvPr id="36" name="Shape 34"/>
          <p:cNvSpPr/>
          <p:nvPr/>
        </p:nvSpPr>
        <p:spPr>
          <a:xfrm>
            <a:off x="2066544" y="1389888"/>
            <a:ext cx="2866644" cy="219456"/>
          </a:xfrm>
          <a:prstGeom prst="rect">
            <a:avLst/>
          </a:prstGeom>
          <a:solidFill>
            <a:srgbClr val="C9A84C">
              <a:alpha val="7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066544" y="1389888"/>
            <a:ext cx="2866644" cy="64008"/>
          </a:xfrm>
          <a:prstGeom prst="rect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1335024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</a:rPr>
              <a:t>95%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84048" y="195681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0D9"/>
                </a:solidFill>
              </a:rPr>
              <a:t>LEGAL RESEARCH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066544" y="2011680"/>
            <a:ext cx="3017520" cy="219456"/>
          </a:xfrm>
          <a:prstGeom prst="rect">
            <a:avLst/>
          </a:prstGeom>
          <a:solidFill>
            <a:srgbClr val="112248"/>
          </a:solidFill>
          <a:ln/>
        </p:spPr>
      </p:sp>
      <p:sp>
        <p:nvSpPr>
          <p:cNvPr id="41" name="Shape 39"/>
          <p:cNvSpPr/>
          <p:nvPr/>
        </p:nvSpPr>
        <p:spPr>
          <a:xfrm>
            <a:off x="2066544" y="2011680"/>
            <a:ext cx="2776118" cy="219456"/>
          </a:xfrm>
          <a:prstGeom prst="rect">
            <a:avLst/>
          </a:prstGeom>
          <a:solidFill>
            <a:srgbClr val="4A90D9">
              <a:alpha val="7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2066544" y="2011680"/>
            <a:ext cx="2776118" cy="64008"/>
          </a:xfrm>
          <a:prstGeom prst="rect">
            <a:avLst/>
          </a:prstGeom>
          <a:solidFill>
            <a:srgbClr val="4A90D9">
              <a:alpha val="4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0" y="1956816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90D9"/>
                </a:solidFill>
              </a:rPr>
              <a:t>92%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4048" y="25786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</a:rPr>
              <a:t>CRITICAL THINKING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066544" y="2633472"/>
            <a:ext cx="3017520" cy="219456"/>
          </a:xfrm>
          <a:prstGeom prst="rect">
            <a:avLst/>
          </a:prstGeom>
          <a:solidFill>
            <a:srgbClr val="112248"/>
          </a:solidFill>
          <a:ln/>
        </p:spPr>
      </p:sp>
      <p:sp>
        <p:nvSpPr>
          <p:cNvPr id="46" name="Shape 44"/>
          <p:cNvSpPr/>
          <p:nvPr/>
        </p:nvSpPr>
        <p:spPr>
          <a:xfrm>
            <a:off x="2066544" y="2633472"/>
            <a:ext cx="2715768" cy="219456"/>
          </a:xfrm>
          <a:prstGeom prst="rect">
            <a:avLst/>
          </a:prstGeom>
          <a:solidFill>
            <a:srgbClr val="27AE60">
              <a:alpha val="7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2066544" y="2633472"/>
            <a:ext cx="2715768" cy="64008"/>
          </a:xfrm>
          <a:prstGeom prst="rect">
            <a:avLst/>
          </a:prstGeom>
          <a:solidFill>
            <a:srgbClr val="27AE60">
              <a:alpha val="4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0" y="257860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AE60"/>
                </a:solidFill>
              </a:rPr>
              <a:t>90%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84048" y="32004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</a:rPr>
              <a:t>NEGOTIATION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066544" y="3255264"/>
            <a:ext cx="3017520" cy="219456"/>
          </a:xfrm>
          <a:prstGeom prst="rect">
            <a:avLst/>
          </a:prstGeom>
          <a:solidFill>
            <a:srgbClr val="112248"/>
          </a:solidFill>
          <a:ln/>
        </p:spPr>
      </p:sp>
      <p:sp>
        <p:nvSpPr>
          <p:cNvPr id="51" name="Shape 49"/>
          <p:cNvSpPr/>
          <p:nvPr/>
        </p:nvSpPr>
        <p:spPr>
          <a:xfrm>
            <a:off x="2066544" y="3255264"/>
            <a:ext cx="2655418" cy="219456"/>
          </a:xfrm>
          <a:prstGeom prst="rect">
            <a:avLst/>
          </a:prstGeom>
          <a:solidFill>
            <a:srgbClr val="E67E22">
              <a:alpha val="7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2066544" y="3255264"/>
            <a:ext cx="2655418" cy="64008"/>
          </a:xfrm>
          <a:prstGeom prst="rect">
            <a:avLst/>
          </a:prstGeom>
          <a:solidFill>
            <a:srgbClr val="E67E22">
              <a:alpha val="4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0" y="3200400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7E22"/>
                </a:solidFill>
              </a:rPr>
              <a:t>88%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84048" y="38221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59B6"/>
                </a:solidFill>
              </a:rPr>
              <a:t>PUBLIC SPEAKING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066544" y="3877056"/>
            <a:ext cx="3017520" cy="219456"/>
          </a:xfrm>
          <a:prstGeom prst="rect">
            <a:avLst/>
          </a:prstGeom>
          <a:solidFill>
            <a:srgbClr val="112248"/>
          </a:solidFill>
          <a:ln/>
        </p:spPr>
      </p:sp>
      <p:sp>
        <p:nvSpPr>
          <p:cNvPr id="56" name="Shape 54"/>
          <p:cNvSpPr/>
          <p:nvPr/>
        </p:nvSpPr>
        <p:spPr>
          <a:xfrm>
            <a:off x="2066544" y="3877056"/>
            <a:ext cx="2564892" cy="219456"/>
          </a:xfrm>
          <a:prstGeom prst="rect">
            <a:avLst/>
          </a:prstGeom>
          <a:solidFill>
            <a:srgbClr val="9B59B6">
              <a:alpha val="7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2066544" y="3877056"/>
            <a:ext cx="2564892" cy="64008"/>
          </a:xfrm>
          <a:prstGeom prst="rect">
            <a:avLst/>
          </a:prstGeom>
          <a:solidFill>
            <a:srgbClr val="9B59B6">
              <a:alpha val="45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5029200" y="3822192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59B6"/>
                </a:solidFill>
              </a:rPr>
              <a:t>85%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486400" y="822960"/>
            <a:ext cx="3401568" cy="3547872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486400" y="822960"/>
            <a:ext cx="3401568" cy="42062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1" name="Shape 59"/>
          <p:cNvSpPr/>
          <p:nvPr/>
        </p:nvSpPr>
        <p:spPr>
          <a:xfrm>
            <a:off x="8412480" y="822960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5614416" y="822960"/>
            <a:ext cx="2761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WHY EACH SKILL MATTERS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5614416" y="1335024"/>
            <a:ext cx="54864" cy="4754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4" name="Shape 62"/>
          <p:cNvSpPr/>
          <p:nvPr/>
        </p:nvSpPr>
        <p:spPr>
          <a:xfrm>
            <a:off x="5541264" y="1463040"/>
            <a:ext cx="128016" cy="128016"/>
          </a:xfrm>
          <a:prstGeom prst="ellipse">
            <a:avLst/>
          </a:prstGeom>
          <a:solidFill>
            <a:srgbClr val="C9A84C">
              <a:alpha val="5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5742432" y="133502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</a:rPr>
              <a:t>COMMUNICATION: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742432" y="1536192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E2F0"/>
                </a:solidFill>
              </a:rPr>
              <a:t>Written and oral precision — from courtroom arguments to client emails to legal notices.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614416" y="1956816"/>
            <a:ext cx="54864" cy="47548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8" name="Shape 66"/>
          <p:cNvSpPr/>
          <p:nvPr/>
        </p:nvSpPr>
        <p:spPr>
          <a:xfrm>
            <a:off x="5541264" y="2084832"/>
            <a:ext cx="128016" cy="128016"/>
          </a:xfrm>
          <a:prstGeom prst="ellipse">
            <a:avLst/>
          </a:prstGeom>
          <a:solidFill>
            <a:srgbClr val="4A90D9">
              <a:alpha val="5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5742432" y="1956816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0D9"/>
                </a:solidFill>
              </a:rPr>
              <a:t>LEGAL RESEARCH: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742432" y="2157984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E2F0"/>
                </a:solidFill>
              </a:rPr>
              <a:t>Navigating Manupatra, SCC, AIR, and AI tools to find binding precedents in minutes.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614416" y="2578608"/>
            <a:ext cx="54864" cy="47548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2" name="Shape 70"/>
          <p:cNvSpPr/>
          <p:nvPr/>
        </p:nvSpPr>
        <p:spPr>
          <a:xfrm>
            <a:off x="5541264" y="2706624"/>
            <a:ext cx="128016" cy="128016"/>
          </a:xfrm>
          <a:prstGeom prst="ellipse">
            <a:avLst/>
          </a:prstGeom>
          <a:solidFill>
            <a:srgbClr val="27AE60">
              <a:alpha val="5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5742432" y="2578608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</a:rPr>
              <a:t>CRITICAL THINKING: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742432" y="2779776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E2F0"/>
                </a:solidFill>
              </a:rPr>
              <a:t>Identifying legal issues, weighing evidence, anticipating counter-arguments before court.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614416" y="3200400"/>
            <a:ext cx="54864" cy="47548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6" name="Shape 74"/>
          <p:cNvSpPr/>
          <p:nvPr/>
        </p:nvSpPr>
        <p:spPr>
          <a:xfrm>
            <a:off x="5541264" y="3328416"/>
            <a:ext cx="128016" cy="128016"/>
          </a:xfrm>
          <a:prstGeom prst="ellipse">
            <a:avLst/>
          </a:prstGeom>
          <a:solidFill>
            <a:srgbClr val="E67E22">
              <a:alpha val="50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5742432" y="3200400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7E22"/>
                </a:solidFill>
              </a:rPr>
              <a:t>NEGOTIATION: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742432" y="3401568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E2F0"/>
                </a:solidFill>
              </a:rPr>
              <a:t>Securing favourable settlements without litigation — saves time, cost, and relationships.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5614416" y="3822192"/>
            <a:ext cx="54864" cy="475488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0" name="Shape 78"/>
          <p:cNvSpPr/>
          <p:nvPr/>
        </p:nvSpPr>
        <p:spPr>
          <a:xfrm>
            <a:off x="5541264" y="3950208"/>
            <a:ext cx="128016" cy="128016"/>
          </a:xfrm>
          <a:prstGeom prst="ellipse">
            <a:avLst/>
          </a:prstGeom>
          <a:solidFill>
            <a:srgbClr val="9B59B6">
              <a:alpha val="50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5742432" y="3822192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</a:rPr>
              <a:t>PUBLIC SPEAKING: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5742432" y="4023360"/>
            <a:ext cx="3035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E2F0"/>
                </a:solidFill>
              </a:rPr>
              <a:t>Commanding presence in court — articulate, calm, and persuasive under judicial scrutiny.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256032" y="4443984"/>
            <a:ext cx="8631936" cy="402336"/>
          </a:xfrm>
          <a:prstGeom prst="rect">
            <a:avLst/>
          </a:prstGeom>
          <a:solidFill>
            <a:srgbClr val="070B1A"/>
          </a:solidFill>
          <a:ln/>
        </p:spPr>
      </p:sp>
      <p:sp>
        <p:nvSpPr>
          <p:cNvPr id="84" name="Shape 82"/>
          <p:cNvSpPr/>
          <p:nvPr/>
        </p:nvSpPr>
        <p:spPr>
          <a:xfrm>
            <a:off x="256032" y="4443984"/>
            <a:ext cx="8631936" cy="3291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5" name="Shape 83"/>
          <p:cNvSpPr/>
          <p:nvPr/>
        </p:nvSpPr>
        <p:spPr>
          <a:xfrm>
            <a:off x="256032" y="4443984"/>
            <a:ext cx="32918" cy="4023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6" name="Shape 84"/>
          <p:cNvSpPr/>
          <p:nvPr/>
        </p:nvSpPr>
        <p:spPr>
          <a:xfrm>
            <a:off x="457200" y="4562856"/>
            <a:ext cx="164592" cy="164592"/>
          </a:xfrm>
          <a:prstGeom prst="ellipse">
            <a:avLst/>
          </a:prstGeom>
          <a:solidFill>
            <a:srgbClr val="C9A84C">
              <a:alpha val="55000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731520" y="44805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C9A84C"/>
                </a:solidFill>
              </a:rPr>
              <a:t>KEY INSIGHT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1700784" y="4535424"/>
            <a:ext cx="20117" cy="2194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9" name="Text 87"/>
          <p:cNvSpPr/>
          <p:nvPr/>
        </p:nvSpPr>
        <p:spPr>
          <a:xfrm>
            <a:off x="1792224" y="4480560"/>
            <a:ext cx="6986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The most successful advocates combine legal knowledge with human skills — no AI replaces courtroom instinct, but AI augments research speed 10x.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91" name="Shape 89"/>
          <p:cNvSpPr/>
          <p:nvPr/>
        </p:nvSpPr>
        <p:spPr>
          <a:xfrm>
            <a:off x="0" y="4878324"/>
            <a:ext cx="91440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2" name="Shape 90"/>
          <p:cNvSpPr/>
          <p:nvPr/>
        </p:nvSpPr>
        <p:spPr>
          <a:xfrm>
            <a:off x="146304" y="4910328"/>
            <a:ext cx="128016" cy="128016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93" name="Text 91"/>
          <p:cNvSpPr/>
          <p:nvPr/>
        </p:nvSpPr>
        <p:spPr>
          <a:xfrm>
            <a:off x="402336" y="48828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E9F"/>
                </a:solidFill>
              </a:rPr>
              <a:t>LexForge AI  ·  AI-Powered Indian Legal Document Platform  ·  Justice · Precision · Technology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9536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19072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578608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438144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297680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157216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Shape 19"/>
          <p:cNvSpPr/>
          <p:nvPr/>
        </p:nvSpPr>
        <p:spPr>
          <a:xfrm>
            <a:off x="8394192" y="91440"/>
            <a:ext cx="137160" cy="137160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77072" y="219456"/>
            <a:ext cx="91440" cy="91440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284464" y="246888"/>
            <a:ext cx="73152" cy="73152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19456" y="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IN THE LEGAL PROFESSION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19456" y="429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E9F"/>
                </a:solidFill>
              </a:rPr>
              <a:t>AI · E-Courts · Legal Tech Platforms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79792" y="91440"/>
            <a:ext cx="1554480" cy="548640"/>
          </a:xfrm>
          <a:prstGeom prst="rect">
            <a:avLst/>
          </a:prstGeom>
          <a:solidFill>
            <a:srgbClr val="C9A84C">
              <a:alpha val="1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479792" y="91440"/>
            <a:ext cx="15544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Shape 26"/>
          <p:cNvSpPr/>
          <p:nvPr/>
        </p:nvSpPr>
        <p:spPr>
          <a:xfrm>
            <a:off x="7479792" y="91440"/>
            <a:ext cx="36576" cy="548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9" name="Text 27"/>
          <p:cNvSpPr/>
          <p:nvPr/>
        </p:nvSpPr>
        <p:spPr>
          <a:xfrm>
            <a:off x="7516368" y="128016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DFA0"/>
                </a:solidFill>
              </a:rPr>
              <a:t>Chapter 08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" y="841248"/>
            <a:ext cx="4206240" cy="1773936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841248"/>
            <a:ext cx="4206240" cy="42062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2" name="Shape 30"/>
          <p:cNvSpPr/>
          <p:nvPr/>
        </p:nvSpPr>
        <p:spPr>
          <a:xfrm>
            <a:off x="3986784" y="841248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84124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AI-POWERED LEGAL RESEARCH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005072" y="84124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AI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3474720" y="1316736"/>
            <a:ext cx="841248" cy="786384"/>
          </a:xfrm>
          <a:prstGeom prst="rect">
            <a:avLst/>
          </a:prstGeom>
          <a:solidFill>
            <a:srgbClr val="112248"/>
          </a:solidFill>
          <a:ln/>
        </p:spPr>
      </p:sp>
      <p:sp>
        <p:nvSpPr>
          <p:cNvPr id="36" name="Shape 34"/>
          <p:cNvSpPr/>
          <p:nvPr/>
        </p:nvSpPr>
        <p:spPr>
          <a:xfrm>
            <a:off x="3474720" y="1316736"/>
            <a:ext cx="841248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7" name="Text 35"/>
          <p:cNvSpPr/>
          <p:nvPr/>
        </p:nvSpPr>
        <p:spPr>
          <a:xfrm>
            <a:off x="3474720" y="1335024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</a:rPr>
              <a:t>30s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474720" y="175564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6B7E9F"/>
                </a:solidFill>
              </a:rPr>
              <a:t>avg document generation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84048" y="1371600"/>
            <a:ext cx="91440" cy="91440"/>
          </a:xfrm>
          <a:prstGeom prst="ellipse">
            <a:avLst/>
          </a:prstGeom>
          <a:solidFill>
            <a:srgbClr val="C9A84C">
              <a:alpha val="6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13350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Groq Llama 3.3 70B generates 19 document types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84048" y="1645920"/>
            <a:ext cx="91440" cy="91440"/>
          </a:xfrm>
          <a:prstGeom prst="ellipse">
            <a:avLst/>
          </a:prstGeom>
          <a:solidFill>
            <a:srgbClr val="C9A84C">
              <a:alpha val="6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16093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Case-law citations from SC/HC precedent database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4048" y="1920240"/>
            <a:ext cx="91440" cy="91440"/>
          </a:xfrm>
          <a:prstGeom prst="ellipse">
            <a:avLst/>
          </a:prstGeom>
          <a:solidFill>
            <a:srgbClr val="C9A84C">
              <a:alpha val="6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18836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FIDELITY_MANDATE: no fabricated facts or dates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84048" y="2194560"/>
            <a:ext cx="91440" cy="91440"/>
          </a:xfrm>
          <a:prstGeom prst="ellipse">
            <a:avLst/>
          </a:prstGeom>
          <a:solidFill>
            <a:srgbClr val="C9A84C">
              <a:alpha val="6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21579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30-second turnaround vs 3-hour manual drafting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00016" y="841248"/>
            <a:ext cx="4206240" cy="1773936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0016" y="841248"/>
            <a:ext cx="4206240" cy="42062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9" name="Shape 47"/>
          <p:cNvSpPr/>
          <p:nvPr/>
        </p:nvSpPr>
        <p:spPr>
          <a:xfrm>
            <a:off x="8430768" y="841248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828032" y="84124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E-COURTS INITIATIVE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449056" y="84124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EC</a:t>
            </a:r>
            <a:endParaRPr lang="en-US" sz="1700" dirty="0"/>
          </a:p>
        </p:txBody>
      </p:sp>
      <p:sp>
        <p:nvSpPr>
          <p:cNvPr id="52" name="Shape 50"/>
          <p:cNvSpPr/>
          <p:nvPr/>
        </p:nvSpPr>
        <p:spPr>
          <a:xfrm>
            <a:off x="7918704" y="1316736"/>
            <a:ext cx="841248" cy="786384"/>
          </a:xfrm>
          <a:prstGeom prst="rect">
            <a:avLst/>
          </a:prstGeom>
          <a:solidFill>
            <a:srgbClr val="112248"/>
          </a:solidFill>
          <a:ln/>
        </p:spPr>
      </p:sp>
      <p:sp>
        <p:nvSpPr>
          <p:cNvPr id="53" name="Shape 51"/>
          <p:cNvSpPr/>
          <p:nvPr/>
        </p:nvSpPr>
        <p:spPr>
          <a:xfrm>
            <a:off x="7918704" y="1316736"/>
            <a:ext cx="841248" cy="274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4" name="Text 52"/>
          <p:cNvSpPr/>
          <p:nvPr/>
        </p:nvSpPr>
        <p:spPr>
          <a:xfrm>
            <a:off x="7918704" y="1335024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</a:rPr>
              <a:t>18K+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918704" y="175564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6B7E9F"/>
                </a:solidFill>
              </a:rPr>
              <a:t>courts computerised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828032" y="1371600"/>
            <a:ext cx="91440" cy="91440"/>
          </a:xfrm>
          <a:prstGeom prst="ellipse">
            <a:avLst/>
          </a:prstGeom>
          <a:solidFill>
            <a:srgbClr val="4A90D9">
              <a:alpha val="6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4992624" y="13350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18,735 courts computerised across India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28032" y="1645920"/>
            <a:ext cx="91440" cy="91440"/>
          </a:xfrm>
          <a:prstGeom prst="ellipse">
            <a:avLst/>
          </a:prstGeom>
          <a:solidFill>
            <a:srgbClr val="4A90D9">
              <a:alpha val="6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4992624" y="16093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eCourts Services app — case status &amp; orders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828032" y="1920240"/>
            <a:ext cx="91440" cy="91440"/>
          </a:xfrm>
          <a:prstGeom prst="ellipse">
            <a:avLst/>
          </a:prstGeom>
          <a:solidFill>
            <a:srgbClr val="4A90D9">
              <a:alpha val="6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4992624" y="18836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Virtual hearings via video conferencing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828032" y="2194560"/>
            <a:ext cx="91440" cy="91440"/>
          </a:xfrm>
          <a:prstGeom prst="ellipse">
            <a:avLst/>
          </a:prstGeom>
          <a:solidFill>
            <a:srgbClr val="4A90D9">
              <a:alpha val="6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4992624" y="21579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National Judicial Data Grid (NJDG) analytics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56032" y="2761488"/>
            <a:ext cx="4206240" cy="1773936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256032" y="2761488"/>
            <a:ext cx="4206240" cy="42062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6" name="Shape 64"/>
          <p:cNvSpPr/>
          <p:nvPr/>
        </p:nvSpPr>
        <p:spPr>
          <a:xfrm>
            <a:off x="3986784" y="2761488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384048" y="276148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DIGITAL EVIDENCE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4005072" y="276148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DE</a:t>
            </a:r>
            <a:endParaRPr lang="en-US" sz="1700" dirty="0"/>
          </a:p>
        </p:txBody>
      </p:sp>
      <p:sp>
        <p:nvSpPr>
          <p:cNvPr id="69" name="Shape 67"/>
          <p:cNvSpPr/>
          <p:nvPr/>
        </p:nvSpPr>
        <p:spPr>
          <a:xfrm>
            <a:off x="3474720" y="3236976"/>
            <a:ext cx="841248" cy="786384"/>
          </a:xfrm>
          <a:prstGeom prst="rect">
            <a:avLst/>
          </a:prstGeom>
          <a:solidFill>
            <a:srgbClr val="112248"/>
          </a:solidFill>
          <a:ln/>
        </p:spPr>
      </p:sp>
      <p:sp>
        <p:nvSpPr>
          <p:cNvPr id="70" name="Shape 68"/>
          <p:cNvSpPr/>
          <p:nvPr/>
        </p:nvSpPr>
        <p:spPr>
          <a:xfrm>
            <a:off x="3474720" y="3236976"/>
            <a:ext cx="841248" cy="274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1" name="Text 69"/>
          <p:cNvSpPr/>
          <p:nvPr/>
        </p:nvSpPr>
        <p:spPr>
          <a:xfrm>
            <a:off x="3474720" y="3255264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</a:rPr>
              <a:t>2023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3474720" y="367588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6B7E9F"/>
                </a:solidFill>
              </a:rPr>
              <a:t>new Evidence Act enacted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384048" y="3291840"/>
            <a:ext cx="91440" cy="91440"/>
          </a:xfrm>
          <a:prstGeom prst="ellipse">
            <a:avLst/>
          </a:prstGeom>
          <a:solidFill>
            <a:srgbClr val="27AE60">
              <a:alpha val="60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548640" y="32552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Indian Evidence Act 2023 — electronic records primary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84048" y="3566160"/>
            <a:ext cx="91440" cy="91440"/>
          </a:xfrm>
          <a:prstGeom prst="ellipse">
            <a:avLst/>
          </a:prstGeom>
          <a:solidFill>
            <a:srgbClr val="27AE60">
              <a:alpha val="60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548640" y="35295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Hash verification of digital documents in court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384048" y="3840480"/>
            <a:ext cx="91440" cy="91440"/>
          </a:xfrm>
          <a:prstGeom prst="ellipse">
            <a:avLst/>
          </a:prstGeom>
          <a:solidFill>
            <a:srgbClr val="27AE60">
              <a:alpha val="60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548640" y="38039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CCTV, emails, WhatsApp as admissible evidence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84048" y="4114800"/>
            <a:ext cx="91440" cy="91440"/>
          </a:xfrm>
          <a:prstGeom prst="ellipse">
            <a:avLst/>
          </a:prstGeom>
          <a:solidFill>
            <a:srgbClr val="27AE60">
              <a:alpha val="60000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548640" y="40782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Section 65B certificate for electronic documents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700016" y="2761488"/>
            <a:ext cx="4206240" cy="1773936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4700016" y="2761488"/>
            <a:ext cx="4206240" cy="42062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3" name="Shape 81"/>
          <p:cNvSpPr/>
          <p:nvPr/>
        </p:nvSpPr>
        <p:spPr>
          <a:xfrm>
            <a:off x="8430768" y="2761488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4828032" y="276148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LEGAL TECH PLATFORMS</a:t>
            </a:r>
            <a:endParaRPr lang="en-US" sz="1150" dirty="0"/>
          </a:p>
        </p:txBody>
      </p:sp>
      <p:sp>
        <p:nvSpPr>
          <p:cNvPr id="85" name="Text 83"/>
          <p:cNvSpPr/>
          <p:nvPr/>
        </p:nvSpPr>
        <p:spPr>
          <a:xfrm>
            <a:off x="8449056" y="276148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LT</a:t>
            </a:r>
            <a:endParaRPr lang="en-US" sz="1700" dirty="0"/>
          </a:p>
        </p:txBody>
      </p:sp>
      <p:sp>
        <p:nvSpPr>
          <p:cNvPr id="86" name="Shape 84"/>
          <p:cNvSpPr/>
          <p:nvPr/>
        </p:nvSpPr>
        <p:spPr>
          <a:xfrm>
            <a:off x="7918704" y="3236976"/>
            <a:ext cx="841248" cy="786384"/>
          </a:xfrm>
          <a:prstGeom prst="rect">
            <a:avLst/>
          </a:prstGeom>
          <a:solidFill>
            <a:srgbClr val="112248"/>
          </a:solidFill>
          <a:ln/>
        </p:spPr>
      </p:sp>
      <p:sp>
        <p:nvSpPr>
          <p:cNvPr id="87" name="Shape 85"/>
          <p:cNvSpPr/>
          <p:nvPr/>
        </p:nvSpPr>
        <p:spPr>
          <a:xfrm>
            <a:off x="7918704" y="3236976"/>
            <a:ext cx="841248" cy="27432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8" name="Text 86"/>
          <p:cNvSpPr/>
          <p:nvPr/>
        </p:nvSpPr>
        <p:spPr>
          <a:xfrm>
            <a:off x="7918704" y="3255264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B59B6"/>
                </a:solidFill>
              </a:rPr>
              <a:t>19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7918704" y="367588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6B7E9F"/>
                </a:solidFill>
              </a:rPr>
              <a:t>LexForge document types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4828032" y="3291840"/>
            <a:ext cx="91440" cy="91440"/>
          </a:xfrm>
          <a:prstGeom prst="ellipse">
            <a:avLst/>
          </a:prstGeom>
          <a:solidFill>
            <a:srgbClr val="9B59B6">
              <a:alpha val="60000"/>
            </a:srgbClr>
          </a:solidFill>
          <a:ln/>
        </p:spPr>
      </p:sp>
      <p:sp>
        <p:nvSpPr>
          <p:cNvPr id="91" name="Text 89"/>
          <p:cNvSpPr/>
          <p:nvPr/>
        </p:nvSpPr>
        <p:spPr>
          <a:xfrm>
            <a:off x="4992624" y="32552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LexForge AI — document drafting (Open Source)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4828032" y="3566160"/>
            <a:ext cx="91440" cy="91440"/>
          </a:xfrm>
          <a:prstGeom prst="ellipse">
            <a:avLst/>
          </a:prstGeom>
          <a:solidFill>
            <a:srgbClr val="9B59B6">
              <a:alpha val="60000"/>
            </a:srgbClr>
          </a:solidFill>
          <a:ln/>
        </p:spPr>
      </p:sp>
      <p:sp>
        <p:nvSpPr>
          <p:cNvPr id="93" name="Text 91"/>
          <p:cNvSpPr/>
          <p:nvPr/>
        </p:nvSpPr>
        <p:spPr>
          <a:xfrm>
            <a:off x="4992624" y="35295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Manupatra / SCC Online — case law research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4828032" y="3840480"/>
            <a:ext cx="91440" cy="91440"/>
          </a:xfrm>
          <a:prstGeom prst="ellipse">
            <a:avLst/>
          </a:prstGeom>
          <a:solidFill>
            <a:srgbClr val="9B59B6">
              <a:alpha val="60000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4992624" y="38039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e-Filing portals — High Courts &amp; District Courts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4828032" y="4114800"/>
            <a:ext cx="91440" cy="91440"/>
          </a:xfrm>
          <a:prstGeom prst="ellipse">
            <a:avLst/>
          </a:prstGeom>
          <a:solidFill>
            <a:srgbClr val="9B59B6">
              <a:alpha val="60000"/>
            </a:srgbClr>
          </a:solidFill>
          <a:ln/>
        </p:spPr>
      </p:sp>
      <p:sp>
        <p:nvSpPr>
          <p:cNvPr id="97" name="Text 95"/>
          <p:cNvSpPr/>
          <p:nvPr/>
        </p:nvSpPr>
        <p:spPr>
          <a:xfrm>
            <a:off x="4992624" y="40782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CourtCopy — certified judgment downloads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256032" y="4443984"/>
            <a:ext cx="8631936" cy="402336"/>
          </a:xfrm>
          <a:prstGeom prst="rect">
            <a:avLst/>
          </a:prstGeom>
          <a:solidFill>
            <a:srgbClr val="070B1A"/>
          </a:solidFill>
          <a:ln/>
        </p:spPr>
      </p:sp>
      <p:sp>
        <p:nvSpPr>
          <p:cNvPr id="99" name="Shape 97"/>
          <p:cNvSpPr/>
          <p:nvPr/>
        </p:nvSpPr>
        <p:spPr>
          <a:xfrm>
            <a:off x="256032" y="4443984"/>
            <a:ext cx="8631936" cy="3291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0" name="Shape 98"/>
          <p:cNvSpPr/>
          <p:nvPr/>
        </p:nvSpPr>
        <p:spPr>
          <a:xfrm>
            <a:off x="256032" y="4443984"/>
            <a:ext cx="32918" cy="4023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1" name="Shape 99"/>
          <p:cNvSpPr/>
          <p:nvPr/>
        </p:nvSpPr>
        <p:spPr>
          <a:xfrm>
            <a:off x="457200" y="4562856"/>
            <a:ext cx="164592" cy="164592"/>
          </a:xfrm>
          <a:prstGeom prst="ellipse">
            <a:avLst/>
          </a:prstGeom>
          <a:solidFill>
            <a:srgbClr val="C9A84C">
              <a:alpha val="55000"/>
            </a:srgbClr>
          </a:solidFill>
          <a:ln/>
        </p:spPr>
      </p:sp>
      <p:sp>
        <p:nvSpPr>
          <p:cNvPr id="102" name="Text 100"/>
          <p:cNvSpPr/>
          <p:nvPr/>
        </p:nvSpPr>
        <p:spPr>
          <a:xfrm>
            <a:off x="731520" y="44805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C9A84C"/>
                </a:solidFill>
              </a:rPr>
              <a:t>KEY INSIGHT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1700784" y="4535424"/>
            <a:ext cx="20117" cy="2194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4" name="Text 102"/>
          <p:cNvSpPr/>
          <p:nvPr/>
        </p:nvSpPr>
        <p:spPr>
          <a:xfrm>
            <a:off x="1792224" y="4480560"/>
            <a:ext cx="6986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LexForge AI embodies India's legal tech revolution — built on Next.js, Prisma, and Groq, it delivers court-ready drafts at the speed of thought.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106" name="Shape 104"/>
          <p:cNvSpPr/>
          <p:nvPr/>
        </p:nvSpPr>
        <p:spPr>
          <a:xfrm>
            <a:off x="0" y="4878324"/>
            <a:ext cx="91440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46304" y="4910328"/>
            <a:ext cx="128016" cy="128016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08" name="Text 106"/>
          <p:cNvSpPr/>
          <p:nvPr/>
        </p:nvSpPr>
        <p:spPr>
          <a:xfrm>
            <a:off x="402336" y="48828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E9F"/>
                </a:solidFill>
              </a:rPr>
              <a:t>LexForge AI  ·  AI-Powered Indian Legal Document Platform  ·  Justice · Precision · Technology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9536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19072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578608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438144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297680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157216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Shape 19"/>
          <p:cNvSpPr/>
          <p:nvPr/>
        </p:nvSpPr>
        <p:spPr>
          <a:xfrm>
            <a:off x="8394192" y="91440"/>
            <a:ext cx="137160" cy="137160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77072" y="219456"/>
            <a:ext cx="91440" cy="91440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284464" y="246888"/>
            <a:ext cx="73152" cy="73152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19456" y="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BY LAWYERS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19456" y="429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E9F"/>
                </a:solidFill>
              </a:rPr>
              <a:t>Navigating the Realities of Legal Practice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79792" y="91440"/>
            <a:ext cx="1554480" cy="548640"/>
          </a:xfrm>
          <a:prstGeom prst="rect">
            <a:avLst/>
          </a:prstGeom>
          <a:solidFill>
            <a:srgbClr val="C9A84C">
              <a:alpha val="1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479792" y="91440"/>
            <a:ext cx="15544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Shape 26"/>
          <p:cNvSpPr/>
          <p:nvPr/>
        </p:nvSpPr>
        <p:spPr>
          <a:xfrm>
            <a:off x="7479792" y="91440"/>
            <a:ext cx="36576" cy="548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9" name="Text 27"/>
          <p:cNvSpPr/>
          <p:nvPr/>
        </p:nvSpPr>
        <p:spPr>
          <a:xfrm>
            <a:off x="7516368" y="128016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DFA0"/>
                </a:solidFill>
              </a:rPr>
              <a:t>Chapter 09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" y="841248"/>
            <a:ext cx="4206240" cy="1737360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841248"/>
            <a:ext cx="4206240" cy="42062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2" name="Shape 30"/>
          <p:cNvSpPr/>
          <p:nvPr/>
        </p:nvSpPr>
        <p:spPr>
          <a:xfrm>
            <a:off x="3986784" y="841248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84124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CASE BACKLOGS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005072" y="84124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BCK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3657600" y="1316736"/>
            <a:ext cx="786384" cy="786384"/>
          </a:xfrm>
          <a:prstGeom prst="ellipse">
            <a:avLst/>
          </a:prstGeom>
          <a:solidFill>
            <a:srgbClr val="C0392B"/>
          </a:solidFill>
          <a:ln/>
          <a:effectLst>
            <a:outerShdw blurRad="254000" dist="50800" dir="16200000" algn="bl" rotWithShape="0">
              <a:srgbClr val="C0392B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721608" y="1380744"/>
            <a:ext cx="658368" cy="658368"/>
          </a:xfrm>
          <a:prstGeom prst="ellipse">
            <a:avLst/>
          </a:prstGeom>
          <a:solidFill>
            <a:srgbClr val="0C1B3D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0" y="1395374"/>
            <a:ext cx="786384" cy="408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</a:rPr>
              <a:t>50M+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712464" y="1788566"/>
            <a:ext cx="676656" cy="283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6B7E9F"/>
                </a:solidFill>
              </a:rPr>
              <a:t>pending</a:t>
            </a:r>
            <a:endParaRPr lang="en-US" sz="7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6B7E9F"/>
                </a:solidFill>
              </a:rPr>
              <a:t>cases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84048" y="1335024"/>
            <a:ext cx="3182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India's courts face a staggering backlog — average civil case takes 3–5 years. Long-duration retainers vs immediate client expectations.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84048" y="2139696"/>
            <a:ext cx="3931920" cy="274320"/>
          </a:xfrm>
          <a:prstGeom prst="rect">
            <a:avLst/>
          </a:prstGeom>
          <a:solidFill>
            <a:srgbClr val="0A1A09"/>
          </a:solidFill>
          <a:ln/>
        </p:spPr>
      </p:sp>
      <p:sp>
        <p:nvSpPr>
          <p:cNvPr id="41" name="Shape 39"/>
          <p:cNvSpPr/>
          <p:nvPr/>
        </p:nvSpPr>
        <p:spPr>
          <a:xfrm>
            <a:off x="384048" y="2139696"/>
            <a:ext cx="36576" cy="274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" y="2148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7AE60"/>
                </a:solidFill>
              </a:rPr>
              <a:t>SOLUTION: E-courts, Lok Adalat, AI-assisted drafting reducing procedural time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00016" y="841248"/>
            <a:ext cx="4206240" cy="1737360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0016" y="841248"/>
            <a:ext cx="4206240" cy="42062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5" name="Shape 43"/>
          <p:cNvSpPr/>
          <p:nvPr/>
        </p:nvSpPr>
        <p:spPr>
          <a:xfrm>
            <a:off x="8430768" y="841248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828032" y="84124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LEGAL COMPLEXITY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449056" y="84124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LEX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8101584" y="1316736"/>
            <a:ext cx="786384" cy="786384"/>
          </a:xfrm>
          <a:prstGeom prst="ellipse">
            <a:avLst/>
          </a:prstGeom>
          <a:solidFill>
            <a:srgbClr val="C9A84C"/>
          </a:solidFill>
          <a:ln/>
          <a:effectLst>
            <a:outerShdw blurRad="254000" dist="50800" dir="16200000" algn="bl" rotWithShape="0">
              <a:srgbClr val="C9A84C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165592" y="1380744"/>
            <a:ext cx="658368" cy="658368"/>
          </a:xfrm>
          <a:prstGeom prst="ellipse">
            <a:avLst/>
          </a:prstGeom>
          <a:solidFill>
            <a:srgbClr val="0C1B3D"/>
          </a:solidFill>
          <a:ln/>
        </p:spPr>
      </p:sp>
      <p:sp>
        <p:nvSpPr>
          <p:cNvPr id="50" name="Text 48"/>
          <p:cNvSpPr/>
          <p:nvPr/>
        </p:nvSpPr>
        <p:spPr>
          <a:xfrm>
            <a:off x="8101584" y="1395374"/>
            <a:ext cx="786384" cy="408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</a:rPr>
              <a:t>1,500+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156448" y="1788566"/>
            <a:ext cx="676656" cy="283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6B7E9F"/>
                </a:solidFill>
              </a:rPr>
              <a:t>Central</a:t>
            </a:r>
            <a:endParaRPr lang="en-US" sz="7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6B7E9F"/>
                </a:solidFill>
              </a:rPr>
              <a:t>Acts in force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828032" y="1335024"/>
            <a:ext cx="3182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With 1,500+ central statutes and thousands of state laws, staying updated is a full-time challenge. Landmark judgments delivered daily.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28032" y="2139696"/>
            <a:ext cx="3931920" cy="274320"/>
          </a:xfrm>
          <a:prstGeom prst="rect">
            <a:avLst/>
          </a:prstGeom>
          <a:solidFill>
            <a:srgbClr val="0A1A09"/>
          </a:solidFill>
          <a:ln/>
        </p:spPr>
      </p:sp>
      <p:sp>
        <p:nvSpPr>
          <p:cNvPr id="54" name="Shape 52"/>
          <p:cNvSpPr/>
          <p:nvPr/>
        </p:nvSpPr>
        <p:spPr>
          <a:xfrm>
            <a:off x="4828032" y="2139696"/>
            <a:ext cx="36576" cy="274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5" name="Text 53"/>
          <p:cNvSpPr/>
          <p:nvPr/>
        </p:nvSpPr>
        <p:spPr>
          <a:xfrm>
            <a:off x="4919472" y="2148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7AE60"/>
                </a:solidFill>
              </a:rPr>
              <a:t>SOLUTION: AI research tools — case law databases, judgment summaries, statute alerts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56032" y="2724912"/>
            <a:ext cx="4206240" cy="1737360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56032" y="2724912"/>
            <a:ext cx="4206240" cy="42062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58" name="Shape 56"/>
          <p:cNvSpPr/>
          <p:nvPr/>
        </p:nvSpPr>
        <p:spPr>
          <a:xfrm>
            <a:off x="3986784" y="2724912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384048" y="272491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ETHICAL RESPONSIBILITIES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4005072" y="272491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ETH</a:t>
            </a:r>
            <a:endParaRPr lang="en-US" sz="1700" dirty="0"/>
          </a:p>
        </p:txBody>
      </p:sp>
      <p:sp>
        <p:nvSpPr>
          <p:cNvPr id="61" name="Shape 59"/>
          <p:cNvSpPr/>
          <p:nvPr/>
        </p:nvSpPr>
        <p:spPr>
          <a:xfrm>
            <a:off x="3657600" y="3200400"/>
            <a:ext cx="786384" cy="786384"/>
          </a:xfrm>
          <a:prstGeom prst="ellipse">
            <a:avLst/>
          </a:prstGeom>
          <a:solidFill>
            <a:srgbClr val="9B59B6"/>
          </a:solidFill>
          <a:ln/>
          <a:effectLst>
            <a:outerShdw blurRad="254000" dist="50800" dir="16200000" algn="bl" rotWithShape="0">
              <a:srgbClr val="9B59B6">
                <a:alpha val="3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721608" y="3264408"/>
            <a:ext cx="658368" cy="658368"/>
          </a:xfrm>
          <a:prstGeom prst="ellipse">
            <a:avLst/>
          </a:prstGeom>
          <a:solidFill>
            <a:srgbClr val="0C1B3D"/>
          </a:solidFill>
          <a:ln/>
        </p:spPr>
      </p:sp>
      <p:sp>
        <p:nvSpPr>
          <p:cNvPr id="63" name="Text 61"/>
          <p:cNvSpPr/>
          <p:nvPr/>
        </p:nvSpPr>
        <p:spPr>
          <a:xfrm>
            <a:off x="3657600" y="3279038"/>
            <a:ext cx="786384" cy="408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59B6"/>
                </a:solidFill>
              </a:rPr>
              <a:t>BCI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3712464" y="3672230"/>
            <a:ext cx="676656" cy="283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6B7E9F"/>
                </a:solidFill>
              </a:rPr>
              <a:t>strict</a:t>
            </a:r>
            <a:endParaRPr lang="en-US" sz="7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6B7E9F"/>
                </a:solidFill>
              </a:rPr>
              <a:t>compliance rules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84048" y="3218688"/>
            <a:ext cx="3182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Bar Council standards prohibit touting, advertising, fee-cutting. Maintaining confidentiality and avoiding conflicts requires constant vigilance.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84048" y="4023360"/>
            <a:ext cx="3931920" cy="274320"/>
          </a:xfrm>
          <a:prstGeom prst="rect">
            <a:avLst/>
          </a:prstGeom>
          <a:solidFill>
            <a:srgbClr val="0A1A09"/>
          </a:solidFill>
          <a:ln/>
        </p:spPr>
      </p:sp>
      <p:sp>
        <p:nvSpPr>
          <p:cNvPr id="67" name="Shape 65"/>
          <p:cNvSpPr/>
          <p:nvPr/>
        </p:nvSpPr>
        <p:spPr>
          <a:xfrm>
            <a:off x="384048" y="4023360"/>
            <a:ext cx="36576" cy="274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8" name="Text 66"/>
          <p:cNvSpPr/>
          <p:nvPr/>
        </p:nvSpPr>
        <p:spPr>
          <a:xfrm>
            <a:off x="475488" y="40325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7AE60"/>
                </a:solidFill>
              </a:rPr>
              <a:t>SOLUTION: Structured conflicts checklist, engagement letters, retainer agreements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700016" y="2724912"/>
            <a:ext cx="4206240" cy="1737360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700016" y="2724912"/>
            <a:ext cx="4206240" cy="42062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1" name="Shape 69"/>
          <p:cNvSpPr/>
          <p:nvPr/>
        </p:nvSpPr>
        <p:spPr>
          <a:xfrm>
            <a:off x="8430768" y="2724912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4828032" y="272491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CLIENT MANAGEMENT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8449056" y="272491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CLT</a:t>
            </a:r>
            <a:endParaRPr lang="en-US" sz="1700" dirty="0"/>
          </a:p>
        </p:txBody>
      </p:sp>
      <p:sp>
        <p:nvSpPr>
          <p:cNvPr id="74" name="Shape 72"/>
          <p:cNvSpPr/>
          <p:nvPr/>
        </p:nvSpPr>
        <p:spPr>
          <a:xfrm>
            <a:off x="8101584" y="3200400"/>
            <a:ext cx="786384" cy="786384"/>
          </a:xfrm>
          <a:prstGeom prst="ellipse">
            <a:avLst/>
          </a:prstGeom>
          <a:solidFill>
            <a:srgbClr val="E67E22"/>
          </a:solidFill>
          <a:ln/>
          <a:effectLst>
            <a:outerShdw blurRad="254000" dist="50800" dir="16200000" algn="bl" rotWithShape="0">
              <a:srgbClr val="E67E22">
                <a:alpha val="35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8165592" y="3264408"/>
            <a:ext cx="658368" cy="658368"/>
          </a:xfrm>
          <a:prstGeom prst="ellipse">
            <a:avLst/>
          </a:prstGeom>
          <a:solidFill>
            <a:srgbClr val="0C1B3D"/>
          </a:solidFill>
          <a:ln/>
        </p:spPr>
      </p:sp>
      <p:sp>
        <p:nvSpPr>
          <p:cNvPr id="76" name="Text 74"/>
          <p:cNvSpPr/>
          <p:nvPr/>
        </p:nvSpPr>
        <p:spPr>
          <a:xfrm>
            <a:off x="8101584" y="3279038"/>
            <a:ext cx="786384" cy="408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7E22"/>
                </a:solidFill>
              </a:rPr>
              <a:t>Trust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156448" y="3672230"/>
            <a:ext cx="676656" cy="283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6B7E9F"/>
                </a:solidFill>
              </a:rPr>
              <a:t>core</a:t>
            </a:r>
            <a:endParaRPr lang="en-US" sz="7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6B7E9F"/>
                </a:solidFill>
              </a:rPr>
              <a:t>relationship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4828032" y="3218688"/>
            <a:ext cx="3182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Clients expect frequent updates, cost predictability, and favourable outcomes. Unrealistic expectations create immense professional stress.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828032" y="4023360"/>
            <a:ext cx="3931920" cy="274320"/>
          </a:xfrm>
          <a:prstGeom prst="rect">
            <a:avLst/>
          </a:prstGeom>
          <a:solidFill>
            <a:srgbClr val="0A1A09"/>
          </a:solidFill>
          <a:ln/>
        </p:spPr>
      </p:sp>
      <p:sp>
        <p:nvSpPr>
          <p:cNvPr id="80" name="Shape 78"/>
          <p:cNvSpPr/>
          <p:nvPr/>
        </p:nvSpPr>
        <p:spPr>
          <a:xfrm>
            <a:off x="4828032" y="4023360"/>
            <a:ext cx="36576" cy="274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1" name="Text 79"/>
          <p:cNvSpPr/>
          <p:nvPr/>
        </p:nvSpPr>
        <p:spPr>
          <a:xfrm>
            <a:off x="4919472" y="40325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7AE60"/>
                </a:solidFill>
              </a:rPr>
              <a:t>SOLUTION: Clear scope letters, billing transparency, digital case-update portals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256032" y="4443984"/>
            <a:ext cx="8631936" cy="402336"/>
          </a:xfrm>
          <a:prstGeom prst="rect">
            <a:avLst/>
          </a:prstGeom>
          <a:solidFill>
            <a:srgbClr val="070B1A"/>
          </a:solidFill>
          <a:ln/>
        </p:spPr>
      </p:sp>
      <p:sp>
        <p:nvSpPr>
          <p:cNvPr id="83" name="Shape 81"/>
          <p:cNvSpPr/>
          <p:nvPr/>
        </p:nvSpPr>
        <p:spPr>
          <a:xfrm>
            <a:off x="256032" y="4443984"/>
            <a:ext cx="8631936" cy="3291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4" name="Shape 82"/>
          <p:cNvSpPr/>
          <p:nvPr/>
        </p:nvSpPr>
        <p:spPr>
          <a:xfrm>
            <a:off x="256032" y="4443984"/>
            <a:ext cx="32918" cy="4023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5" name="Shape 83"/>
          <p:cNvSpPr/>
          <p:nvPr/>
        </p:nvSpPr>
        <p:spPr>
          <a:xfrm>
            <a:off x="457200" y="4562856"/>
            <a:ext cx="164592" cy="164592"/>
          </a:xfrm>
          <a:prstGeom prst="ellipse">
            <a:avLst/>
          </a:prstGeom>
          <a:solidFill>
            <a:srgbClr val="C9A84C">
              <a:alpha val="55000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731520" y="44805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C9A84C"/>
                </a:solidFill>
              </a:rPr>
              <a:t>KEY INSIGHT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1700784" y="4535424"/>
            <a:ext cx="20117" cy="2194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8" name="Text 86"/>
          <p:cNvSpPr/>
          <p:nvPr/>
        </p:nvSpPr>
        <p:spPr>
          <a:xfrm>
            <a:off x="1792224" y="4480560"/>
            <a:ext cx="6986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Every challenge faced by lawyers is an opportunity for technology — LexForge AI directly addresses drafting complexity and time, the #1 time drain.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90" name="Shape 88"/>
          <p:cNvSpPr/>
          <p:nvPr/>
        </p:nvSpPr>
        <p:spPr>
          <a:xfrm>
            <a:off x="0" y="4878324"/>
            <a:ext cx="91440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1" name="Shape 89"/>
          <p:cNvSpPr/>
          <p:nvPr/>
        </p:nvSpPr>
        <p:spPr>
          <a:xfrm>
            <a:off x="146304" y="4910328"/>
            <a:ext cx="128016" cy="128016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92" name="Text 90"/>
          <p:cNvSpPr/>
          <p:nvPr/>
        </p:nvSpPr>
        <p:spPr>
          <a:xfrm>
            <a:off x="402336" y="48828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E9F"/>
                </a:solidFill>
              </a:rPr>
              <a:t>LexForge AI  ·  AI-Powered Indian Legal Document Platform  ·  Justice · Precision · Technology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9536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19072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578608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438144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297680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157216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Shape 19"/>
          <p:cNvSpPr/>
          <p:nvPr/>
        </p:nvSpPr>
        <p:spPr>
          <a:xfrm>
            <a:off x="8394192" y="91440"/>
            <a:ext cx="137160" cy="137160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77072" y="219456"/>
            <a:ext cx="91440" cy="91440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284464" y="246888"/>
            <a:ext cx="73152" cy="73152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19456" y="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OF THE LEGAL PROFESSION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19456" y="429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E9F"/>
                </a:solidFill>
              </a:rPr>
              <a:t>AI · Digital Courts · Smart Contracts · ODR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79792" y="91440"/>
            <a:ext cx="1554480" cy="548640"/>
          </a:xfrm>
          <a:prstGeom prst="rect">
            <a:avLst/>
          </a:prstGeom>
          <a:solidFill>
            <a:srgbClr val="C9A84C">
              <a:alpha val="1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479792" y="91440"/>
            <a:ext cx="15544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Shape 26"/>
          <p:cNvSpPr/>
          <p:nvPr/>
        </p:nvSpPr>
        <p:spPr>
          <a:xfrm>
            <a:off x="7479792" y="91440"/>
            <a:ext cx="36576" cy="548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9" name="Text 27"/>
          <p:cNvSpPr/>
          <p:nvPr/>
        </p:nvSpPr>
        <p:spPr>
          <a:xfrm>
            <a:off x="7516368" y="128016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DFA0"/>
                </a:solidFill>
              </a:rPr>
              <a:t>Chapter 10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1554480"/>
            <a:ext cx="2414016" cy="2414016"/>
          </a:xfrm>
          <a:prstGeom prst="ellipse">
            <a:avLst/>
          </a:prstGeom>
          <a:solidFill>
            <a:srgbClr val="112248">
              <a:alpha val="20000"/>
            </a:srgbClr>
          </a:solidFill>
          <a:ln w="762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56432" y="1719072"/>
            <a:ext cx="2084832" cy="2084832"/>
          </a:xfrm>
          <a:prstGeom prst="ellipse">
            <a:avLst/>
          </a:prstGeom>
          <a:solidFill>
            <a:srgbClr val="112248">
              <a:alpha val="12000"/>
            </a:srgbClr>
          </a:solidFill>
          <a:ln w="7620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21024" y="1883664"/>
            <a:ext cx="1755648" cy="1755648"/>
          </a:xfrm>
          <a:prstGeom prst="ellipse">
            <a:avLst/>
          </a:prstGeom>
          <a:solidFill>
            <a:srgbClr val="112248">
              <a:alpha val="4000"/>
            </a:srgbClr>
          </a:solidFill>
          <a:ln w="7620">
            <a:solidFill>
              <a:srgbClr val="C9A84C">
                <a:alpha val="1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0480" y="2029968"/>
            <a:ext cx="1371600" cy="914400"/>
          </a:xfrm>
          <a:prstGeom prst="ellipse">
            <a:avLst/>
          </a:prstGeom>
          <a:solidFill>
            <a:srgbClr val="162B55"/>
          </a:solidFill>
          <a:ln/>
          <a:effectLst>
            <a:outerShdw blurRad="254000" dist="50800" dir="16200000" algn="bl" rotWithShape="0">
              <a:srgbClr val="C9A84C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840480" y="2029968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96D"/>
                </a:solidFill>
              </a:rPr>
              <a:t>FUTURE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8C96D"/>
                </a:solidFill>
              </a:rPr>
              <a:t>LEGAL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56032" y="841248"/>
            <a:ext cx="2816352" cy="1810512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6032" y="841248"/>
            <a:ext cx="2816352" cy="42062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7" name="Shape 35"/>
          <p:cNvSpPr/>
          <p:nvPr/>
        </p:nvSpPr>
        <p:spPr>
          <a:xfrm>
            <a:off x="2596896" y="841248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84048" y="84124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AI IN LAW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2615184" y="84124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AI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384048" y="1335024"/>
            <a:ext cx="91440" cy="91440"/>
          </a:xfrm>
          <a:prstGeom prst="ellipse">
            <a:avLst/>
          </a:prstGeom>
          <a:solidFill>
            <a:srgbClr val="C9A84C">
              <a:alpha val="6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129844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Predictive case outcome modelling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84048" y="1664208"/>
            <a:ext cx="91440" cy="91440"/>
          </a:xfrm>
          <a:prstGeom prst="ellipse">
            <a:avLst/>
          </a:prstGeom>
          <a:solidFill>
            <a:srgbClr val="C9A84C">
              <a:alpha val="6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16276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Contract review &amp; anomaly detection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84048" y="1993392"/>
            <a:ext cx="91440" cy="91440"/>
          </a:xfrm>
          <a:prstGeom prst="ellipse">
            <a:avLst/>
          </a:prstGeom>
          <a:solidFill>
            <a:srgbClr val="C9A84C">
              <a:alpha val="6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19568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LexForge-style document automation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84048" y="2322576"/>
            <a:ext cx="91440" cy="91440"/>
          </a:xfrm>
          <a:prstGeom prst="ellipse">
            <a:avLst/>
          </a:prstGeom>
          <a:solidFill>
            <a:srgbClr val="C9A84C">
              <a:alpha val="6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228600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Natural language statute search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071616" y="841248"/>
            <a:ext cx="2816352" cy="1810512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071616" y="841248"/>
            <a:ext cx="2816352" cy="42062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0" name="Shape 48"/>
          <p:cNvSpPr/>
          <p:nvPr/>
        </p:nvSpPr>
        <p:spPr>
          <a:xfrm>
            <a:off x="8412480" y="841248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199632" y="84124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DIGITAL COURTS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8430768" y="84124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EC</a:t>
            </a:r>
            <a:endParaRPr lang="en-US" sz="1700" dirty="0"/>
          </a:p>
        </p:txBody>
      </p:sp>
      <p:sp>
        <p:nvSpPr>
          <p:cNvPr id="53" name="Shape 51"/>
          <p:cNvSpPr/>
          <p:nvPr/>
        </p:nvSpPr>
        <p:spPr>
          <a:xfrm>
            <a:off x="6199632" y="1335024"/>
            <a:ext cx="91440" cy="91440"/>
          </a:xfrm>
          <a:prstGeom prst="ellipse">
            <a:avLst/>
          </a:prstGeom>
          <a:solidFill>
            <a:srgbClr val="4A90D9">
              <a:alpha val="6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364224" y="129844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Virtual hearings (Video Conference)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199632" y="1664208"/>
            <a:ext cx="91440" cy="91440"/>
          </a:xfrm>
          <a:prstGeom prst="ellipse">
            <a:avLst/>
          </a:prstGeom>
          <a:solidFill>
            <a:srgbClr val="4A90D9">
              <a:alpha val="6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364224" y="16276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e-Filing for all district courts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199632" y="1993392"/>
            <a:ext cx="91440" cy="91440"/>
          </a:xfrm>
          <a:prstGeom prst="ellipse">
            <a:avLst/>
          </a:prstGeom>
          <a:solidFill>
            <a:srgbClr val="4A90D9">
              <a:alpha val="6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364224" y="19568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AI cause-list management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199632" y="2322576"/>
            <a:ext cx="91440" cy="91440"/>
          </a:xfrm>
          <a:prstGeom prst="ellipse">
            <a:avLst/>
          </a:prstGeom>
          <a:solidFill>
            <a:srgbClr val="4A90D9">
              <a:alpha val="6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6364224" y="228600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Digital decree / order delivery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56032" y="2816352"/>
            <a:ext cx="2816352" cy="1609344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256032" y="2816352"/>
            <a:ext cx="2816352" cy="42062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3" name="Shape 61"/>
          <p:cNvSpPr/>
          <p:nvPr/>
        </p:nvSpPr>
        <p:spPr>
          <a:xfrm>
            <a:off x="2596896" y="2816352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384048" y="2816352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SMART CONTRACTS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2615184" y="281635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SC</a:t>
            </a:r>
            <a:endParaRPr lang="en-US" sz="1700" dirty="0"/>
          </a:p>
        </p:txBody>
      </p:sp>
      <p:sp>
        <p:nvSpPr>
          <p:cNvPr id="66" name="Shape 64"/>
          <p:cNvSpPr/>
          <p:nvPr/>
        </p:nvSpPr>
        <p:spPr>
          <a:xfrm>
            <a:off x="384048" y="3310128"/>
            <a:ext cx="91440" cy="91440"/>
          </a:xfrm>
          <a:prstGeom prst="ellipse">
            <a:avLst/>
          </a:prstGeom>
          <a:solidFill>
            <a:srgbClr val="27AE60">
              <a:alpha val="6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548640" y="327355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Self-executing blockchain agreements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84048" y="3584448"/>
            <a:ext cx="91440" cy="91440"/>
          </a:xfrm>
          <a:prstGeom prst="ellipse">
            <a:avLst/>
          </a:prstGeom>
          <a:solidFill>
            <a:srgbClr val="27AE60">
              <a:alpha val="6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548640" y="354787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Escrow auto-release on conditions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84048" y="3858768"/>
            <a:ext cx="91440" cy="91440"/>
          </a:xfrm>
          <a:prstGeom prst="ellipse">
            <a:avLst/>
          </a:prstGeom>
          <a:solidFill>
            <a:srgbClr val="27AE60">
              <a:alpha val="6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548640" y="382219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Real estate &amp; IP licensing on-chain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84048" y="4133088"/>
            <a:ext cx="91440" cy="91440"/>
          </a:xfrm>
          <a:prstGeom prst="ellipse">
            <a:avLst/>
          </a:prstGeom>
          <a:solidFill>
            <a:srgbClr val="27AE60">
              <a:alpha val="6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548640" y="409651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Reduces enforcement litigation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071616" y="2816352"/>
            <a:ext cx="2816352" cy="1609344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071616" y="2816352"/>
            <a:ext cx="2816352" cy="42062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6" name="Shape 74"/>
          <p:cNvSpPr/>
          <p:nvPr/>
        </p:nvSpPr>
        <p:spPr>
          <a:xfrm>
            <a:off x="8412480" y="2816352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6199632" y="2816352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ONLINE DISPUTE RESOLUTION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8430768" y="281635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ODR</a:t>
            </a:r>
            <a:endParaRPr lang="en-US" sz="1700" dirty="0"/>
          </a:p>
        </p:txBody>
      </p:sp>
      <p:sp>
        <p:nvSpPr>
          <p:cNvPr id="79" name="Shape 77"/>
          <p:cNvSpPr/>
          <p:nvPr/>
        </p:nvSpPr>
        <p:spPr>
          <a:xfrm>
            <a:off x="6199632" y="3310128"/>
            <a:ext cx="91440" cy="91440"/>
          </a:xfrm>
          <a:prstGeom prst="ellipse">
            <a:avLst/>
          </a:prstGeom>
          <a:solidFill>
            <a:srgbClr val="9B59B6">
              <a:alpha val="60000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6364224" y="327355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eBay resolved 60M disputes via ODR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199632" y="3584448"/>
            <a:ext cx="91440" cy="91440"/>
          </a:xfrm>
          <a:prstGeom prst="ellipse">
            <a:avLst/>
          </a:prstGeom>
          <a:solidFill>
            <a:srgbClr val="9B59B6">
              <a:alpha val="60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6364224" y="354787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India's ODR Policy (2023) — NITI Aayog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199632" y="3858768"/>
            <a:ext cx="91440" cy="91440"/>
          </a:xfrm>
          <a:prstGeom prst="ellipse">
            <a:avLst/>
          </a:prstGeom>
          <a:solidFill>
            <a:srgbClr val="9B59B6">
              <a:alpha val="60000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6364224" y="382219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Gramvaad, SAMA, Presolv360 platforms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6199632" y="4133088"/>
            <a:ext cx="91440" cy="91440"/>
          </a:xfrm>
          <a:prstGeom prst="ellipse">
            <a:avLst/>
          </a:prstGeom>
          <a:solidFill>
            <a:srgbClr val="9B59B6">
              <a:alpha val="60000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6364224" y="409651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Reduces load on Lok Adalats &amp; courts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256032" y="4443984"/>
            <a:ext cx="8631936" cy="402336"/>
          </a:xfrm>
          <a:prstGeom prst="rect">
            <a:avLst/>
          </a:prstGeom>
          <a:solidFill>
            <a:srgbClr val="070B1A"/>
          </a:solidFill>
          <a:ln/>
        </p:spPr>
      </p:sp>
      <p:sp>
        <p:nvSpPr>
          <p:cNvPr id="88" name="Shape 86"/>
          <p:cNvSpPr/>
          <p:nvPr/>
        </p:nvSpPr>
        <p:spPr>
          <a:xfrm>
            <a:off x="256032" y="4443984"/>
            <a:ext cx="8631936" cy="3291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9" name="Shape 87"/>
          <p:cNvSpPr/>
          <p:nvPr/>
        </p:nvSpPr>
        <p:spPr>
          <a:xfrm>
            <a:off x="256032" y="4443984"/>
            <a:ext cx="32918" cy="4023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0" name="Shape 88"/>
          <p:cNvSpPr/>
          <p:nvPr/>
        </p:nvSpPr>
        <p:spPr>
          <a:xfrm>
            <a:off x="457200" y="4562856"/>
            <a:ext cx="164592" cy="164592"/>
          </a:xfrm>
          <a:prstGeom prst="ellipse">
            <a:avLst/>
          </a:prstGeom>
          <a:solidFill>
            <a:srgbClr val="C9A84C">
              <a:alpha val="55000"/>
            </a:srgbClr>
          </a:solidFill>
          <a:ln/>
        </p:spPr>
      </p:sp>
      <p:sp>
        <p:nvSpPr>
          <p:cNvPr id="91" name="Text 89"/>
          <p:cNvSpPr/>
          <p:nvPr/>
        </p:nvSpPr>
        <p:spPr>
          <a:xfrm>
            <a:off x="731520" y="44805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C9A84C"/>
                </a:solidFill>
              </a:rPr>
              <a:t>KEY INSIGHT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700784" y="4535424"/>
            <a:ext cx="20117" cy="2194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3" name="Text 91"/>
          <p:cNvSpPr/>
          <p:nvPr/>
        </p:nvSpPr>
        <p:spPr>
          <a:xfrm>
            <a:off x="1792224" y="4480560"/>
            <a:ext cx="6986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The future lawyer is a techno-legal professional — one who uses AI for research, ODR for resolution, and digital courts for advocacy.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95" name="Shape 93"/>
          <p:cNvSpPr/>
          <p:nvPr/>
        </p:nvSpPr>
        <p:spPr>
          <a:xfrm>
            <a:off x="0" y="4878324"/>
            <a:ext cx="91440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6" name="Shape 94"/>
          <p:cNvSpPr/>
          <p:nvPr/>
        </p:nvSpPr>
        <p:spPr>
          <a:xfrm>
            <a:off x="146304" y="4910328"/>
            <a:ext cx="128016" cy="128016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97" name="Text 95"/>
          <p:cNvSpPr/>
          <p:nvPr/>
        </p:nvSpPr>
        <p:spPr>
          <a:xfrm>
            <a:off x="402336" y="48828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E9F"/>
                </a:solidFill>
              </a:rPr>
              <a:t>LexForge AI  ·  AI-Powered Indian Legal Document Platform  ·  Justice · Precision · Technology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9536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19072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578608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438144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297680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157216"/>
            <a:ext cx="9144000" cy="2743"/>
          </a:xfrm>
          <a:prstGeom prst="rect">
            <a:avLst/>
          </a:prstGeom>
          <a:solidFill>
            <a:srgbClr val="1A2E60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0" y="0"/>
            <a:ext cx="2743" cy="5143500"/>
          </a:xfrm>
          <a:prstGeom prst="rect">
            <a:avLst/>
          </a:prstGeom>
          <a:solidFill>
            <a:srgbClr val="1A2E60">
              <a:alpha val="1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Shape 19"/>
          <p:cNvSpPr/>
          <p:nvPr/>
        </p:nvSpPr>
        <p:spPr>
          <a:xfrm>
            <a:off x="8394192" y="91440"/>
            <a:ext cx="137160" cy="137160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77072" y="219456"/>
            <a:ext cx="91440" cy="91440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284464" y="246888"/>
            <a:ext cx="73152" cy="73152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19456" y="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CASE STUDY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19456" y="429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E9F"/>
                </a:solidFill>
              </a:rPr>
              <a:t>Kesavananda Bharati v. State of Kerala (1973)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79792" y="91440"/>
            <a:ext cx="1554480" cy="548640"/>
          </a:xfrm>
          <a:prstGeom prst="rect">
            <a:avLst/>
          </a:prstGeom>
          <a:solidFill>
            <a:srgbClr val="C9A84C">
              <a:alpha val="1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479792" y="91440"/>
            <a:ext cx="15544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Shape 26"/>
          <p:cNvSpPr/>
          <p:nvPr/>
        </p:nvSpPr>
        <p:spPr>
          <a:xfrm>
            <a:off x="7479792" y="91440"/>
            <a:ext cx="36576" cy="548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9" name="Text 27"/>
          <p:cNvSpPr/>
          <p:nvPr/>
        </p:nvSpPr>
        <p:spPr>
          <a:xfrm>
            <a:off x="7516368" y="128016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DFA0"/>
                </a:solidFill>
              </a:rPr>
              <a:t>Chapter 11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" y="822960"/>
            <a:ext cx="8631936" cy="512064"/>
          </a:xfrm>
          <a:prstGeom prst="rect">
            <a:avLst/>
          </a:prstGeom>
          <a:solidFill>
            <a:srgbClr val="112248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822960"/>
            <a:ext cx="8631936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2" name="Shape 30"/>
          <p:cNvSpPr/>
          <p:nvPr/>
        </p:nvSpPr>
        <p:spPr>
          <a:xfrm>
            <a:off x="329184" y="886968"/>
            <a:ext cx="164592" cy="16459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" y="8412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DFA0"/>
                </a:solidFill>
              </a:rPr>
              <a:t>AIR 1973 SC 1461  ·  13-Judge Constitutional Bench  ·  Supreme Court of India  ·  24 April 1973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" y="1426464"/>
            <a:ext cx="5120640" cy="2926080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1426464"/>
            <a:ext cx="5120640" cy="42062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6" name="Shape 34"/>
          <p:cNvSpPr/>
          <p:nvPr/>
        </p:nvSpPr>
        <p:spPr>
          <a:xfrm>
            <a:off x="4901184" y="1426464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" y="1426464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FACTS &amp; DECISION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919472" y="142646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SC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402336" y="1901952"/>
            <a:ext cx="914400" cy="219456"/>
          </a:xfrm>
          <a:prstGeom prst="rect">
            <a:avLst/>
          </a:prstGeom>
          <a:solidFill>
            <a:srgbClr val="C9A84C">
              <a:alpha val="2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2336" y="1901952"/>
            <a:ext cx="914400" cy="22860"/>
          </a:xfrm>
          <a:prstGeom prst="rect">
            <a:avLst/>
          </a:prstGeom>
          <a:solidFill>
            <a:srgbClr val="C9A84C">
              <a:alpha val="7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02336" y="1901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84C"/>
                </a:solidFill>
              </a:rPr>
              <a:t>PARTIES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389888" y="1883664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Swami Kesavananda Bharati (Petitioner) vs. State of Kerala &amp; Union of India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02336" y="2359152"/>
            <a:ext cx="914400" cy="219456"/>
          </a:xfrm>
          <a:prstGeom prst="rect">
            <a:avLst/>
          </a:prstGeom>
          <a:solidFill>
            <a:srgbClr val="C9A84C">
              <a:alpha val="2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02336" y="2359152"/>
            <a:ext cx="914400" cy="22860"/>
          </a:xfrm>
          <a:prstGeom prst="rect">
            <a:avLst/>
          </a:prstGeom>
          <a:solidFill>
            <a:srgbClr val="C9A84C">
              <a:alpha val="7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02336" y="23591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84C"/>
                </a:solidFill>
              </a:rPr>
              <a:t>ISSUE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389888" y="2340864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Can Parliament amend ANY part of the Constitution — including fundamental rights — under Article 368?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02336" y="2816352"/>
            <a:ext cx="914400" cy="219456"/>
          </a:xfrm>
          <a:prstGeom prst="rect">
            <a:avLst/>
          </a:prstGeom>
          <a:solidFill>
            <a:srgbClr val="C9A84C">
              <a:alpha val="2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02336" y="2816352"/>
            <a:ext cx="914400" cy="22860"/>
          </a:xfrm>
          <a:prstGeom prst="rect">
            <a:avLst/>
          </a:prstGeom>
          <a:solidFill>
            <a:srgbClr val="C9A84C">
              <a:alpha val="7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02336" y="28163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84C"/>
                </a:solidFill>
              </a:rPr>
              <a:t>HELD (7:6)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389888" y="2798064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Parliament may amend any provision but CANNOT destroy the BASIC STRUCTURE of the Constitution.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02336" y="3273552"/>
            <a:ext cx="914400" cy="219456"/>
          </a:xfrm>
          <a:prstGeom prst="rect">
            <a:avLst/>
          </a:prstGeom>
          <a:solidFill>
            <a:srgbClr val="C9A84C">
              <a:alpha val="2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02336" y="3273552"/>
            <a:ext cx="914400" cy="22860"/>
          </a:xfrm>
          <a:prstGeom prst="rect">
            <a:avLst/>
          </a:prstGeom>
          <a:solidFill>
            <a:srgbClr val="C9A84C">
              <a:alpha val="7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402336" y="32735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84C"/>
                </a:solidFill>
              </a:rPr>
              <a:t>BASIC STRUCTURE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389888" y="3255264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Supremacy of Constitution · Separation of Powers · Federalism · Secularism · Democratic Republic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02336" y="3730752"/>
            <a:ext cx="914400" cy="219456"/>
          </a:xfrm>
          <a:prstGeom prst="rect">
            <a:avLst/>
          </a:prstGeom>
          <a:solidFill>
            <a:srgbClr val="C9A84C">
              <a:alpha val="2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402336" y="3730752"/>
            <a:ext cx="914400" cy="22860"/>
          </a:xfrm>
          <a:prstGeom prst="rect">
            <a:avLst/>
          </a:prstGeom>
          <a:solidFill>
            <a:srgbClr val="C9A84C">
              <a:alpha val="7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402336" y="37307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84C"/>
                </a:solidFill>
              </a:rPr>
              <a:t>LEGAL TEAM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389888" y="3712464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Nanabhoy Palkhivala argued for Petitioner in the most celebrated advocacy in Indian legal history.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577840" y="1426464"/>
            <a:ext cx="3310128" cy="2926080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577840" y="1426464"/>
            <a:ext cx="3310128" cy="42062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1" name="Shape 59"/>
          <p:cNvSpPr/>
          <p:nvPr/>
        </p:nvSpPr>
        <p:spPr>
          <a:xfrm>
            <a:off x="8412480" y="1426464"/>
            <a:ext cx="475488" cy="420624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5705856" y="1426464"/>
            <a:ext cx="2670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06102A"/>
                </a:solidFill>
              </a:rPr>
              <a:t>IMPACT ON SOCIETY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8430768" y="142646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102A"/>
                </a:solidFill>
              </a:rPr>
              <a:t>IMP</a:t>
            </a:r>
            <a:endParaRPr lang="en-US" sz="1700" dirty="0"/>
          </a:p>
        </p:txBody>
      </p:sp>
      <p:sp>
        <p:nvSpPr>
          <p:cNvPr id="64" name="Shape 62"/>
          <p:cNvSpPr/>
          <p:nvPr/>
        </p:nvSpPr>
        <p:spPr>
          <a:xfrm>
            <a:off x="5705856" y="1920240"/>
            <a:ext cx="109728" cy="109728"/>
          </a:xfrm>
          <a:prstGeom prst="ellipse">
            <a:avLst/>
          </a:prstGeom>
          <a:solidFill>
            <a:srgbClr val="C0392B">
              <a:alpha val="6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5888736" y="1883664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Saved democracy from parliamentary absolutism — no government can dismantle the Constitution's soul.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705856" y="2377440"/>
            <a:ext cx="109728" cy="109728"/>
          </a:xfrm>
          <a:prstGeom prst="ellipse">
            <a:avLst/>
          </a:prstGeom>
          <a:solidFill>
            <a:srgbClr val="C0392B">
              <a:alpha val="6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5888736" y="2340864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Foundation of every writ petition challenging government overreach under Art. 32 &amp; 226.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705856" y="2834640"/>
            <a:ext cx="109728" cy="109728"/>
          </a:xfrm>
          <a:prstGeom prst="ellipse">
            <a:avLst/>
          </a:prstGeom>
          <a:solidFill>
            <a:srgbClr val="C0392B">
              <a:alpha val="6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5888736" y="2798064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Palkhivala's advocacy remains the gold standard — preparation, mastery, and fearless argument.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705856" y="3291840"/>
            <a:ext cx="109728" cy="109728"/>
          </a:xfrm>
          <a:prstGeom prst="ellipse">
            <a:avLst/>
          </a:prstGeom>
          <a:solidFill>
            <a:srgbClr val="C0392B">
              <a:alpha val="6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5888736" y="3255264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Cited in 1000+ subsequent judgments — governs every constitutional amendment to this day.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705856" y="3749040"/>
            <a:ext cx="109728" cy="109728"/>
          </a:xfrm>
          <a:prstGeom prst="ellipse">
            <a:avLst/>
          </a:prstGeom>
          <a:solidFill>
            <a:srgbClr val="C0392B">
              <a:alpha val="6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5888736" y="3712464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8E2F0"/>
                </a:solidFill>
              </a:rPr>
              <a:t>Lesson: Legal advocacy at its finest can shape the destiny of a nation's democratic framework.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56032" y="4443984"/>
            <a:ext cx="8631936" cy="402336"/>
          </a:xfrm>
          <a:prstGeom prst="rect">
            <a:avLst/>
          </a:prstGeom>
          <a:solidFill>
            <a:srgbClr val="070B1A"/>
          </a:solidFill>
          <a:ln/>
        </p:spPr>
      </p:sp>
      <p:sp>
        <p:nvSpPr>
          <p:cNvPr id="75" name="Shape 73"/>
          <p:cNvSpPr/>
          <p:nvPr/>
        </p:nvSpPr>
        <p:spPr>
          <a:xfrm>
            <a:off x="256032" y="4443984"/>
            <a:ext cx="8631936" cy="3291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6" name="Shape 74"/>
          <p:cNvSpPr/>
          <p:nvPr/>
        </p:nvSpPr>
        <p:spPr>
          <a:xfrm>
            <a:off x="256032" y="4443984"/>
            <a:ext cx="32918" cy="40233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7" name="Shape 75"/>
          <p:cNvSpPr/>
          <p:nvPr/>
        </p:nvSpPr>
        <p:spPr>
          <a:xfrm>
            <a:off x="457200" y="4562856"/>
            <a:ext cx="164592" cy="164592"/>
          </a:xfrm>
          <a:prstGeom prst="ellipse">
            <a:avLst/>
          </a:prstGeom>
          <a:solidFill>
            <a:srgbClr val="C9A84C">
              <a:alpha val="55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731520" y="44805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C9A84C"/>
                </a:solidFill>
              </a:rPr>
              <a:t>KEY INSIGHT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1700784" y="4535424"/>
            <a:ext cx="20117" cy="2194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0" name="Text 78"/>
          <p:cNvSpPr/>
          <p:nvPr/>
        </p:nvSpPr>
        <p:spPr>
          <a:xfrm>
            <a:off x="1792224" y="4480560"/>
            <a:ext cx="6986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0"/>
                </a:solidFill>
              </a:rPr>
              <a:t>Kesavananda Bharati (1973) is the most consequential case in Indian legal history — one lawyer, one brief, and the Constitution of India was saved.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82" name="Shape 80"/>
          <p:cNvSpPr/>
          <p:nvPr/>
        </p:nvSpPr>
        <p:spPr>
          <a:xfrm>
            <a:off x="0" y="4878324"/>
            <a:ext cx="91440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3" name="Shape 81"/>
          <p:cNvSpPr/>
          <p:nvPr/>
        </p:nvSpPr>
        <p:spPr>
          <a:xfrm>
            <a:off x="146304" y="4910328"/>
            <a:ext cx="128016" cy="128016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4" name="Text 82"/>
          <p:cNvSpPr/>
          <p:nvPr/>
        </p:nvSpPr>
        <p:spPr>
          <a:xfrm>
            <a:off x="402336" y="48828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E9F"/>
                </a:solidFill>
              </a:rPr>
              <a:t>"Law is the bond of civil society." — Cicero  ·  LexForge AI honours this tradition with every document generated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"/>
            <a:ext cx="9144000" cy="2743"/>
          </a:xfrm>
          <a:prstGeom prst="rect">
            <a:avLst/>
          </a:prstGeom>
          <a:solidFill>
            <a:srgbClr val="1A2E60">
              <a:alpha val="2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16736"/>
            <a:ext cx="9144000" cy="2743"/>
          </a:xfrm>
          <a:prstGeom prst="rect">
            <a:avLst/>
          </a:prstGeom>
          <a:solidFill>
            <a:srgbClr val="1A2E60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975104"/>
            <a:ext cx="9144000" cy="2743"/>
          </a:xfrm>
          <a:prstGeom prst="rect">
            <a:avLst/>
          </a:prstGeom>
          <a:solidFill>
            <a:srgbClr val="1A2E60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633472"/>
            <a:ext cx="9144000" cy="2743"/>
          </a:xfrm>
          <a:prstGeom prst="rect">
            <a:avLst/>
          </a:prstGeom>
          <a:solidFill>
            <a:srgbClr val="1A2E60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2743"/>
          </a:xfrm>
          <a:prstGeom prst="rect">
            <a:avLst/>
          </a:prstGeom>
          <a:solidFill>
            <a:srgbClr val="1A2E60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3950208"/>
            <a:ext cx="9144000" cy="2743"/>
          </a:xfrm>
          <a:prstGeom prst="rect">
            <a:avLst/>
          </a:prstGeom>
          <a:solidFill>
            <a:srgbClr val="1A2E60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608576"/>
            <a:ext cx="9144000" cy="2743"/>
          </a:xfrm>
          <a:prstGeom prst="rect">
            <a:avLst/>
          </a:prstGeom>
          <a:solidFill>
            <a:srgbClr val="1A2E60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5266944"/>
            <a:ext cx="9144000" cy="2743"/>
          </a:xfrm>
          <a:prstGeom prst="rect">
            <a:avLst/>
          </a:prstGeom>
          <a:solidFill>
            <a:srgbClr val="1A2E60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4088" y="0"/>
            <a:ext cx="2743" cy="5143500"/>
          </a:xfrm>
          <a:prstGeom prst="rect">
            <a:avLst/>
          </a:prstGeom>
          <a:solidFill>
            <a:srgbClr val="1A2E60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408176" y="0"/>
            <a:ext cx="2743" cy="5143500"/>
          </a:xfrm>
          <a:prstGeom prst="rect">
            <a:avLst/>
          </a:prstGeom>
          <a:solidFill>
            <a:srgbClr val="1A2E60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112264" y="0"/>
            <a:ext cx="2743" cy="5143500"/>
          </a:xfrm>
          <a:prstGeom prst="rect">
            <a:avLst/>
          </a:prstGeom>
          <a:solidFill>
            <a:srgbClr val="1A2E60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816352" y="0"/>
            <a:ext cx="2743" cy="5143500"/>
          </a:xfrm>
          <a:prstGeom prst="rect">
            <a:avLst/>
          </a:prstGeom>
          <a:solidFill>
            <a:srgbClr val="1A2E60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520440" y="0"/>
            <a:ext cx="2743" cy="5143500"/>
          </a:xfrm>
          <a:prstGeom prst="rect">
            <a:avLst/>
          </a:prstGeom>
          <a:solidFill>
            <a:srgbClr val="1A2E60">
              <a:alpha val="1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224528" y="0"/>
            <a:ext cx="2743" cy="5143500"/>
          </a:xfrm>
          <a:prstGeom prst="rect">
            <a:avLst/>
          </a:prstGeom>
          <a:solidFill>
            <a:srgbClr val="1A2E60">
              <a:alpha val="1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928616" y="0"/>
            <a:ext cx="2743" cy="5143500"/>
          </a:xfrm>
          <a:prstGeom prst="rect">
            <a:avLst/>
          </a:prstGeom>
          <a:solidFill>
            <a:srgbClr val="1A2E60">
              <a:alpha val="1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632704" y="0"/>
            <a:ext cx="2743" cy="5143500"/>
          </a:xfrm>
          <a:prstGeom prst="rect">
            <a:avLst/>
          </a:prstGeom>
          <a:solidFill>
            <a:srgbClr val="1A2E60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336792" y="0"/>
            <a:ext cx="2743" cy="5143500"/>
          </a:xfrm>
          <a:prstGeom prst="rect">
            <a:avLst/>
          </a:prstGeom>
          <a:solidFill>
            <a:srgbClr val="1A2E60">
              <a:alpha val="1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0" y="0"/>
            <a:ext cx="2743" cy="5143500"/>
          </a:xfrm>
          <a:prstGeom prst="rect">
            <a:avLst/>
          </a:prstGeom>
          <a:solidFill>
            <a:srgbClr val="1A2E60">
              <a:alpha val="1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744968" y="0"/>
            <a:ext cx="2743" cy="5143500"/>
          </a:xfrm>
          <a:prstGeom prst="rect">
            <a:avLst/>
          </a:prstGeom>
          <a:solidFill>
            <a:srgbClr val="1A2E60">
              <a:alpha val="1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449056" y="0"/>
            <a:ext cx="2743" cy="5143500"/>
          </a:xfrm>
          <a:prstGeom prst="rect">
            <a:avLst/>
          </a:prstGeom>
          <a:solidFill>
            <a:srgbClr val="1A2E60">
              <a:alpha val="1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153144" y="0"/>
            <a:ext cx="2743" cy="5143500"/>
          </a:xfrm>
          <a:prstGeom prst="rect">
            <a:avLst/>
          </a:prstGeom>
          <a:solidFill>
            <a:srgbClr val="1A2E60">
              <a:alpha val="1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0"/>
            <a:ext cx="73152" cy="7498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Shape 26"/>
          <p:cNvSpPr/>
          <p:nvPr/>
        </p:nvSpPr>
        <p:spPr>
          <a:xfrm>
            <a:off x="8394192" y="91440"/>
            <a:ext cx="137160" cy="137160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577072" y="219456"/>
            <a:ext cx="91440" cy="91440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302752" y="246888"/>
            <a:ext cx="73152" cy="73152"/>
          </a:xfrm>
          <a:prstGeom prst="ellipse">
            <a:avLst/>
          </a:prstGeom>
          <a:solidFill>
            <a:srgbClr val="C9A84C">
              <a:alpha val="4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201168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50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— KEY TAKEAWAYS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256032" y="841248"/>
            <a:ext cx="8631936" cy="530352"/>
          </a:xfrm>
          <a:prstGeom prst="rect">
            <a:avLst/>
          </a:prstGeom>
          <a:solidFill>
            <a:srgbClr val="112248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841248"/>
            <a:ext cx="64008" cy="5303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932688"/>
            <a:ext cx="164592" cy="164592"/>
          </a:xfrm>
          <a:prstGeom prst="ellipse">
            <a:avLst/>
          </a:prstGeom>
          <a:solidFill>
            <a:srgbClr val="C9A84C">
              <a:alpha val="5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" y="8412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first duty of society is justice." — Alexander Hamilton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56032" y="1463040"/>
            <a:ext cx="8631936" cy="566928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6032" y="1463040"/>
            <a:ext cx="54864" cy="5669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8" name="Shape 36"/>
          <p:cNvSpPr/>
          <p:nvPr/>
        </p:nvSpPr>
        <p:spPr>
          <a:xfrm>
            <a:off x="402336" y="1554480"/>
            <a:ext cx="384048" cy="384048"/>
          </a:xfrm>
          <a:prstGeom prst="ellipse">
            <a:avLst/>
          </a:prstGeom>
          <a:solidFill>
            <a:srgbClr val="C9A84C">
              <a:alpha val="2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02336" y="1554480"/>
            <a:ext cx="384048" cy="384048"/>
          </a:xfrm>
          <a:prstGeom prst="ellipse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</a:rPr>
              <a:t>01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59536" y="1645920"/>
            <a:ext cx="22860" cy="201168"/>
          </a:xfrm>
          <a:prstGeom prst="rect">
            <a:avLst/>
          </a:prstGeom>
          <a:solidFill>
            <a:srgbClr val="C9A84C">
              <a:alpha val="5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69264" y="1517904"/>
            <a:ext cx="7790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2F0"/>
                </a:solidFill>
              </a:rPr>
              <a:t>Law is the bedrock of civilised society — lawyers are its guardians, interpreters, and architects of justice.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56032" y="2084832"/>
            <a:ext cx="8631936" cy="566928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56032" y="2084832"/>
            <a:ext cx="54864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5" name="Shape 43"/>
          <p:cNvSpPr/>
          <p:nvPr/>
        </p:nvSpPr>
        <p:spPr>
          <a:xfrm>
            <a:off x="402336" y="2176272"/>
            <a:ext cx="384048" cy="384048"/>
          </a:xfrm>
          <a:prstGeom prst="ellipse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02336" y="2176272"/>
            <a:ext cx="384048" cy="384048"/>
          </a:xfrm>
          <a:prstGeom prst="ellipse">
            <a:avLst/>
          </a:prstGeom>
          <a:solidFill>
            <a:srgbClr val="4A90D9">
              <a:alpha val="15000"/>
            </a:srgbClr>
          </a:solidFill>
          <a:ln w="12700">
            <a:solidFill>
              <a:srgbClr val="4A90D9">
                <a:alpha val="7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2336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D9"/>
                </a:solidFill>
              </a:rPr>
              <a:t>02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59536" y="2267712"/>
            <a:ext cx="22860" cy="201168"/>
          </a:xfrm>
          <a:prstGeom prst="rect">
            <a:avLst/>
          </a:prstGeom>
          <a:solidFill>
            <a:srgbClr val="4A90D9">
              <a:alpha val="5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969264" y="2139696"/>
            <a:ext cx="7790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2F0"/>
                </a:solidFill>
              </a:rPr>
              <a:t>India's four-tier judicial hierarchy, 1.7 million advocates, and 19+ document types reflect the scale of the legal profession.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56032" y="2706624"/>
            <a:ext cx="8631936" cy="566928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56032" y="2706624"/>
            <a:ext cx="54864" cy="5669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2" name="Shape 50"/>
          <p:cNvSpPr/>
          <p:nvPr/>
        </p:nvSpPr>
        <p:spPr>
          <a:xfrm>
            <a:off x="402336" y="2798064"/>
            <a:ext cx="384048" cy="384048"/>
          </a:xfrm>
          <a:prstGeom prst="ellipse">
            <a:avLst/>
          </a:prstGeom>
          <a:solidFill>
            <a:srgbClr val="27AE60">
              <a:alpha val="2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402336" y="2798064"/>
            <a:ext cx="384048" cy="384048"/>
          </a:xfrm>
          <a:prstGeom prst="ellipse">
            <a:avLst/>
          </a:prstGeom>
          <a:solidFill>
            <a:srgbClr val="27AE60">
              <a:alpha val="15000"/>
            </a:srgbClr>
          </a:solidFill>
          <a:ln w="12700">
            <a:solidFill>
              <a:srgbClr val="27AE60">
                <a:alpha val="7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2336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</a:rPr>
              <a:t>03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59536" y="2889504"/>
            <a:ext cx="22860" cy="201168"/>
          </a:xfrm>
          <a:prstGeom prst="rect">
            <a:avLst/>
          </a:prstGeom>
          <a:solidFill>
            <a:srgbClr val="27AE60">
              <a:alpha val="5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969264" y="2761488"/>
            <a:ext cx="7790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2F0"/>
                </a:solidFill>
              </a:rPr>
              <a:t>Technology — from AI drafting (LexForge) to e-Courts, ODR, and smart contracts — is transforming legal practice irreversibly.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56032" y="3328416"/>
            <a:ext cx="8631936" cy="566928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256032" y="3328416"/>
            <a:ext cx="54864" cy="566928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59" name="Shape 57"/>
          <p:cNvSpPr/>
          <p:nvPr/>
        </p:nvSpPr>
        <p:spPr>
          <a:xfrm>
            <a:off x="402336" y="3419856"/>
            <a:ext cx="384048" cy="384048"/>
          </a:xfrm>
          <a:prstGeom prst="ellipse">
            <a:avLst/>
          </a:prstGeom>
          <a:solidFill>
            <a:srgbClr val="9B59B6">
              <a:alpha val="2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402336" y="3419856"/>
            <a:ext cx="384048" cy="384048"/>
          </a:xfrm>
          <a:prstGeom prst="ellipse">
            <a:avLst/>
          </a:prstGeom>
          <a:solidFill>
            <a:srgbClr val="9B59B6">
              <a:alpha val="15000"/>
            </a:srgbClr>
          </a:solidFill>
          <a:ln w="12700">
            <a:solidFill>
              <a:srgbClr val="9B59B6">
                <a:alpha val="7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2336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B59B6"/>
                </a:solidFill>
              </a:rPr>
              <a:t>04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59536" y="3511296"/>
            <a:ext cx="22860" cy="201168"/>
          </a:xfrm>
          <a:prstGeom prst="rect">
            <a:avLst/>
          </a:prstGeom>
          <a:solidFill>
            <a:srgbClr val="9B59B6">
              <a:alpha val="5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969264" y="3383280"/>
            <a:ext cx="7790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2F0"/>
                </a:solidFill>
              </a:rPr>
              <a:t>The most impactful advocates combine deep legal knowledge, ethical integrity, and human communication — skills no AI can fully replicate.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56032" y="3950208"/>
            <a:ext cx="8631936" cy="566928"/>
          </a:xfrm>
          <a:prstGeom prst="rect">
            <a:avLst/>
          </a:prstGeom>
          <a:solidFill>
            <a:srgbClr val="0C1B3D"/>
          </a:solidFill>
          <a:ln/>
          <a:effectLst>
            <a:outerShdw blurRad="1905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256032" y="3950208"/>
            <a:ext cx="54864" cy="5669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6" name="Shape 64"/>
          <p:cNvSpPr/>
          <p:nvPr/>
        </p:nvSpPr>
        <p:spPr>
          <a:xfrm>
            <a:off x="402336" y="4041648"/>
            <a:ext cx="384048" cy="384048"/>
          </a:xfrm>
          <a:prstGeom prst="ellipse">
            <a:avLst/>
          </a:prstGeom>
          <a:solidFill>
            <a:srgbClr val="C0392B">
              <a:alpha val="2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02336" y="4041648"/>
            <a:ext cx="384048" cy="384048"/>
          </a:xfrm>
          <a:prstGeom prst="ellipse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2336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</a:rPr>
              <a:t>05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859536" y="4133088"/>
            <a:ext cx="22860" cy="201168"/>
          </a:xfrm>
          <a:prstGeom prst="rect">
            <a:avLst/>
          </a:prstGeom>
          <a:solidFill>
            <a:srgbClr val="C0392B">
              <a:alpha val="5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969264" y="4005072"/>
            <a:ext cx="7790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2F0"/>
                </a:solidFill>
              </a:rPr>
              <a:t>Justice is not an abstraction — it is a daily act performed by advocates who stand between citizens and the power of the State.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0" y="4645152"/>
            <a:ext cx="9144000" cy="443484"/>
          </a:xfrm>
          <a:prstGeom prst="rect">
            <a:avLst/>
          </a:prstGeom>
          <a:solidFill>
            <a:srgbClr val="0C1B3D"/>
          </a:solidFill>
          <a:ln/>
        </p:spPr>
      </p:sp>
      <p:sp>
        <p:nvSpPr>
          <p:cNvPr id="72" name="Shape 70"/>
          <p:cNvSpPr/>
          <p:nvPr/>
        </p:nvSpPr>
        <p:spPr>
          <a:xfrm>
            <a:off x="0" y="4645152"/>
            <a:ext cx="91440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3" name="Shape 71"/>
          <p:cNvSpPr/>
          <p:nvPr/>
        </p:nvSpPr>
        <p:spPr>
          <a:xfrm>
            <a:off x="164592" y="4681728"/>
            <a:ext cx="128016" cy="128016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74" name="Text 72"/>
          <p:cNvSpPr/>
          <p:nvPr/>
        </p:nvSpPr>
        <p:spPr>
          <a:xfrm>
            <a:off x="402336" y="465429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E9F"/>
                </a:solidFill>
              </a:rPr>
              <a:t>LexForge AI  ·  AI-Powered Indian Legal Document Platform  ·  Groq Llama 3.3 70B  ·  19 Document Types  ·  Court-Ready in 30 Seconds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2253</Words>
  <Application>Microsoft Office PowerPoint</Application>
  <PresentationFormat>On-screen Show (16:9)</PresentationFormat>
  <Paragraphs>389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Lawyer Profession, Legal System &amp; the Role of Advocates</dc:title>
  <dc:subject>PptxGenJS Presentation</dc:subject>
  <dc:creator>LexForge AI</dc:creator>
  <cp:lastModifiedBy>shivendra pratap singh</cp:lastModifiedBy>
  <cp:revision>1</cp:revision>
  <dcterms:created xsi:type="dcterms:W3CDTF">2026-06-17T10:29:05Z</dcterms:created>
  <dcterms:modified xsi:type="dcterms:W3CDTF">2026-06-19T09:49:21Z</dcterms:modified>
</cp:coreProperties>
</file>