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gap, not the software: a student can explain Article 21 in an examination and still cannot produce a bail application on the first morning of an internship. That gap is what this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gently but plainly — every Principal already knows it. The syllabus produces students who know the law and have never once produced a filing. The first internship is where they find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Deal with the IT question immediately — it is the first objection in every meeting. There is no installation, no lab, no server, and no update to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meeting. Go slowly and let them count. Six on this slide, six on the next, and the number itself is the argument: this is not one feature dressed up, it is twelve distinct things a law student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eleven and twelve are the ones a final-year student and their internship supervisor care about most. Linger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concrete with a single imagined student. This is the slide that turns a feature list into something a Principal can picture happening in their own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from the student to the institution. A Principal is judged on placements, moot results and accreditation — speak to those three, not to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many Principals this is the deciding slide, so do not hurry it. The formal undertaking behind every line here is a document on letterhead that we will hand over before the pilot begins — they do not have to take any of it on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structural point: buying for the batch is cheaper per head than students buying individually, and that is deliberate — it is the reason for the college to fund it. Be ready to discuss the number; it is a list price, not a decree.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ask. Keep it small enough to approve without a committee — that is the entire design of it. A Principal who can say yes in the room is worth more than a larger pilot that needs three meetings.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leave without agreeing step one and a date. A demonstration to the faculty is a low-risk yes, and it is the step that makes the rest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the student demonstration specifically. Students asking their own questions in front of the Principal does more to close a pilot than any slide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7795260" y="4663440"/>
            <a:ext cx="3703320" cy="1172718"/>
          </a:xfrm>
          <a:prstGeom prst="diamond">
            <a:avLst/>
          </a:prstGeom>
          <a:solidFill>
            <a:srgbClr val="D4A017">
              <a:alpha val="22000"/>
            </a:srgbClr>
          </a:solidFill>
          <a:ln w="9525">
            <a:solidFill>
              <a:srgbClr val="D4A017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5115" y="4144975"/>
            <a:ext cx="3283610" cy="1036930"/>
          </a:xfrm>
          <a:prstGeom prst="diamond">
            <a:avLst/>
          </a:prstGeom>
          <a:solidFill>
            <a:srgbClr val="F2F0EA">
              <a:alpha val="12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0281" y="3675888"/>
            <a:ext cx="2913278" cy="925830"/>
          </a:xfrm>
          <a:prstGeom prst="diamond">
            <a:avLst/>
          </a:prstGeom>
          <a:solidFill>
            <a:srgbClr val="F2F0EA">
              <a:alpha val="9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447" y="3231490"/>
            <a:ext cx="2542946" cy="814730"/>
          </a:xfrm>
          <a:prstGeom prst="diamond">
            <a:avLst/>
          </a:prstGeom>
          <a:solidFill>
            <a:srgbClr val="F2F0EA">
              <a:alpha val="6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90177" y="1947672"/>
            <a:ext cx="913486" cy="1185062"/>
          </a:xfrm>
          <a:prstGeom prst="roundRect">
            <a:avLst>
              <a:gd name="adj" fmla="val 5005"/>
            </a:avLst>
          </a:prstGeom>
          <a:solidFill>
            <a:srgbClr val="E8E2D2">
              <a:alpha val="40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90177" y="1947672"/>
            <a:ext cx="913486" cy="160477"/>
          </a:xfrm>
          <a:prstGeom prst="rect">
            <a:avLst/>
          </a:prstGeom>
          <a:solidFill>
            <a:srgbClr val="D4A0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25966" y="2280971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5966" y="2447620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5966" y="2614270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25966" y="2780919"/>
            <a:ext cx="353050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33331" y="2762402"/>
            <a:ext cx="234544" cy="234544"/>
          </a:xfrm>
          <a:prstGeom prst="ellipse">
            <a:avLst/>
          </a:prstGeom>
          <a:solidFill>
            <a:srgbClr val="D4A017">
              <a:alpha val="60000"/>
            </a:srgbClr>
          </a:solidFill>
          <a:ln w="9525">
            <a:solidFill>
              <a:srgbClr val="D4A017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PRINCIPAL AND THE FACULTY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48256"/>
            <a:ext cx="768096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2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LexForge AI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658368" y="2977896"/>
            <a:ext cx="219456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197352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students can do by the end of one semester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166616"/>
            <a:ext cx="6949440" cy="675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drafting, research and study platform built for Indian law — and a proposal for a free single-semester pilot with one cohort of your students.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lexforge-ai.vercel.app</a:t>
            </a:r>
            <a:pPr indent="0" marL="0">
              <a:buNone/>
            </a:pPr>
            <a:r>
              <a:rPr lang="en-US" sz="12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support.lexforge@gmail.com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examination does not test the thing chambers hire for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5300320" cy="233172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3970">
            <a:solidFill>
              <a:srgbClr val="FF8A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" y="1828800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EXAMINE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2121408"/>
            <a:ext cx="482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Knowledge, tested on paper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2688336"/>
            <a:ext cx="482483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Recite the doctrine and the leading judgment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problem question in three hours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from memory in an examination hall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having never drafted a real filing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33008" y="1664208"/>
            <a:ext cx="5300320" cy="2331720"/>
          </a:xfrm>
          <a:prstGeom prst="roundRect">
            <a:avLst>
              <a:gd name="adj" fmla="val 2353"/>
            </a:avLst>
          </a:prstGeom>
          <a:solidFill>
            <a:srgbClr val="161616"/>
          </a:solidFill>
          <a:ln w="13970">
            <a:solidFill>
              <a:srgbClr val="5FCC8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70752" y="1828800"/>
            <a:ext cx="482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CHAMBER ASKS FOR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70752" y="2121408"/>
            <a:ext cx="482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product, on the first morning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470752" y="2688336"/>
            <a:ext cx="482483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this bail application by the afternoon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order and tell me our grounds of appeal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 the authority, with the citation</a:t>
            </a:r>
            <a:endParaRPr lang="en-US" sz="1300" dirty="0"/>
          </a:p>
          <a:p>
            <a:pPr marL="190500" indent="-190500">
              <a:lnSpc>
                <a:spcPts val="2000"/>
              </a:lnSpc>
              <a:buSzPct val="100000"/>
              <a:buChar char="–"/>
            </a:pPr>
            <a:r>
              <a:rPr lang="en-US" sz="13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it so it can actually be filed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423367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D4A017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430682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complaint we are answering.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do not say your students do not know law. They say your students cannot yet produce work. That is a practice gap, and practice is the one thing a syllabus cannot manufacture.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website, nothing to install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10874959" cy="960120"/>
          </a:xfrm>
          <a:prstGeom prst="roundRect">
            <a:avLst>
              <a:gd name="adj" fmla="val 7619"/>
            </a:avLst>
          </a:prstGeom>
          <a:solidFill>
            <a:srgbClr val="161616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1664208"/>
            <a:ext cx="10874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lexforge-ai.vercel.app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862072"/>
            <a:ext cx="10874959" cy="24998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3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and no computer lab.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in any browser, on the phone a student already owns.</a:t>
            </a:r>
            <a:endParaRPr lang="en-US" sz="1400" dirty="0"/>
          </a:p>
          <a:p>
            <a:pPr marL="203200" indent="-203200">
              <a:lnSpc>
                <a:spcPts val="23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for your IT staff.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licence keys to distribute, and no update anyone has to install.</a:t>
            </a:r>
            <a:endParaRPr lang="en-US" sz="1400" dirty="0"/>
          </a:p>
          <a:p>
            <a:pPr marL="203200" indent="-203200">
              <a:lnSpc>
                <a:spcPts val="23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enrolled automatically.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signing up on your college email domain is linked without an administrator touching anything — and where your students use personal email, we import them from a spreadsheet you send us.</a:t>
            </a:r>
            <a:endParaRPr lang="en-US" sz="1400" dirty="0"/>
          </a:p>
          <a:p>
            <a:pPr marL="203200" indent="-203200">
              <a:lnSpc>
                <a:spcPts val="23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English and हिन्दी, </a:t>
            </a:r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drafts in 7 languages with the court vocabulary each one actually uses.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STUDENTS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ways it is used — one to six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76930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1810512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real legal documents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" y="2322576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types — legal notice, petition, writ, bail application, PIL, affidavit, vakalatnama, sale deed, RTI, consumer complaint and more, in court-ready format.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56506" y="166420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75069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4557674" y="1810512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of Indian law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57674" y="2322576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citation-backed answer with the statutory provision, the leading judgments and the point an examiner is looking for.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54645" y="166420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73207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8255813" y="1810512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moot court memorial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55813" y="2322576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moot problem, choose a side, and get a full memorial outline — facts, issues, arguments and prayer — to argue with and improve.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58368" y="3712464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76930" y="37490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" y="3858768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landmark judgments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" y="4370832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Supreme Court and High Court cases, each broken into facts, issue, holding, ratio and why it still matters.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56506" y="3712464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75069" y="37490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28" name="Text 25"/>
          <p:cNvSpPr txBox="1"/>
          <p:nvPr/>
        </p:nvSpPr>
        <p:spPr>
          <a:xfrm>
            <a:off x="4557674" y="3858768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doctrines properly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57674" y="4370832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and common-law principles with the case they came from and how they are applied today.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054645" y="3712464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573207" y="37490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400" dirty="0"/>
          </a:p>
        </p:txBody>
      </p:sp>
      <p:sp>
        <p:nvSpPr>
          <p:cNvPr id="32" name="Text 29"/>
          <p:cNvSpPr txBox="1"/>
          <p:nvPr/>
        </p:nvSpPr>
        <p:spPr>
          <a:xfrm>
            <a:off x="8255813" y="3858768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tutor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255813" y="4370832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tutor grounded in that same curated catalogue, so revision answers stay anchored to real cases rather than invention.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STUDENTS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ways it is used — seven to twelve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76930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1810512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with quizzes and flashcards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" y="2322576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 any topic, and printable as a handout with the questions first and the answers at the end.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56506" y="166420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75069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4557674" y="1810512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career honestly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57674" y="2322576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Litigation, corporate, judiciary, an LLM abroad, civil services or academia — set out year by year rather than guessed at.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54645" y="166420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73207" y="170078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8255813" y="1810512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Bare Acts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55813" y="2322576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Indian statutes and read the full text of the section, rather than a paraphrase of it.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58368" y="3712464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76930" y="37490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" y="3858768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case law that exists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" y="4370832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reported judgments with links back to the source, so a student learns to verify rather than to trust.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56506" y="3712464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75069" y="37490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400" dirty="0"/>
          </a:p>
        </p:txBody>
      </p:sp>
      <p:sp>
        <p:nvSpPr>
          <p:cNvPr id="28" name="Text 25"/>
          <p:cNvSpPr txBox="1"/>
          <p:nvPr/>
        </p:nvSpPr>
        <p:spPr>
          <a:xfrm>
            <a:off x="4557674" y="3858768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real court order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57674" y="4370832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analysers: read an order and produce the grounds of appeal, the counter, an amendment, a fresh application or a compliance report.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054645" y="3712464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573207" y="37490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A2E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400" dirty="0"/>
          </a:p>
        </p:txBody>
      </p:sp>
      <p:sp>
        <p:nvSpPr>
          <p:cNvPr id="32" name="Text 29"/>
          <p:cNvSpPr txBox="1"/>
          <p:nvPr/>
        </p:nvSpPr>
        <p:spPr>
          <a:xfrm>
            <a:off x="8255813" y="3858768"/>
            <a:ext cx="24271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matter like a chamber does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255813" y="4370832"/>
            <a:ext cx="311292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court dates and version-controlled drafts — the administrative habits nobody teaches and every senior expects.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student, one semester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" y="1664208"/>
            <a:ext cx="10874959" cy="2719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with the college email. No form to fill, no fee, no approval to wait for.</a:t>
            </a:r>
            <a:endParaRPr lang="en-US" sz="140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legal notice for a clinical-legal-education file and sees what a real one looks like for the first time.</a:t>
            </a:r>
            <a:endParaRPr lang="en-US" sz="140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—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moot memorial, argues it, and rewrites the weak issue after the bench takes it apart.</a:t>
            </a:r>
            <a:endParaRPr lang="en-US" sz="140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—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revises for internals against the landmark-judgment deck and the quiz generator.</a:t>
            </a:r>
            <a:endParaRPr lang="en-US" sz="140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—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real order in an internship and produces the grounds of appeal the same evening.</a:t>
            </a:r>
            <a:endParaRPr lang="en-US" sz="1400" dirty="0"/>
          </a:p>
          <a:p>
            <a:pPr marL="203200" indent="-203200">
              <a:lnSpc>
                <a:spcPts val="2600"/>
              </a:lnSpc>
              <a:buSzPct val="100000"/>
              <a:buChar char="–"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term —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archive of their own work, and a habit their supervisor noticed.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COLLEGE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institution gets from 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3478682" cy="1536192"/>
          </a:xfrm>
          <a:prstGeom prst="roundRect">
            <a:avLst>
              <a:gd name="adj" fmla="val 297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arrive able to work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2231136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 who produces a usable draft in the first week is the intern who gets called back — and that is what a placement record is made of.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56506" y="1664208"/>
            <a:ext cx="3478682" cy="1536192"/>
          </a:xfrm>
          <a:prstGeom prst="roundRect">
            <a:avLst>
              <a:gd name="adj" fmla="val 297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57674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moot performance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57674" y="2231136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their preparation arguing and refining rather than staring at a blank first page.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54645" y="1664208"/>
            <a:ext cx="3478682" cy="1536192"/>
          </a:xfrm>
          <a:prstGeom prst="roundRect">
            <a:avLst>
              <a:gd name="adj" fmla="val 297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55813" y="1810512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teaching evidence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55813" y="2231136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faculty co-ordinator can see that a cohort is active and engaged — useful when the institution has to demonstrate what it provides.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3419856"/>
            <a:ext cx="3478682" cy="1536192"/>
          </a:xfrm>
          <a:prstGeom prst="roundRect">
            <a:avLst>
              <a:gd name="adj" fmla="val 297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9536" y="3566160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burden on the college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3986784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installation, no lab, no server and no administration. Enrolment happens on the email domain.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56506" y="3419856"/>
            <a:ext cx="3478682" cy="1536192"/>
          </a:xfrm>
          <a:prstGeom prst="roundRect">
            <a:avLst>
              <a:gd name="adj" fmla="val 297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57674" y="3566160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access across the batch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57674" y="3986784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enrolled student gets the same tools regardless of what they can personally afford — which is the argument for the college funding it.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054645" y="3419856"/>
            <a:ext cx="3478682" cy="1536192"/>
          </a:xfrm>
          <a:prstGeom prst="roundRect">
            <a:avLst>
              <a:gd name="adj" fmla="val 2976"/>
            </a:avLst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55813" y="3566160"/>
            <a:ext cx="3112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to call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55813" y="3986784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is a person and an email address, not a ticket queue in another timezone.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college owns it. We only process it.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1664208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college is the Data Fiduciary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LexForge is only its processor. That is the DPDP Act position, and it is in writing.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249424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2231136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co-ordinator cannot read a student’s document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see that a student is active. They do not see what that student wrote.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816352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2798064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notice within 72 hours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college, in writing, whether or not it is convenient for us.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383280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3364992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within 30 days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college asking. The whole cohort, on request, without negotiation.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3950208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15568" y="3931920"/>
            <a:ext cx="1041775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Sub-processors are named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undertaking and on the public privacy policy — including that processing happens on infrastructure in the United States.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58368" y="473659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480974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get this on letterhead.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data-protection undertaking, a GST declaration and a rate card — the three papers your accounts department will ask for — before a single student signs in.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college pays less per student than a student does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64208"/>
          <a:ext cx="10874959" cy="914400"/>
        </p:xfrm>
        <a:graphic>
          <a:graphicData uri="http://schemas.openxmlformats.org/drawingml/2006/table">
            <a:tbl>
              <a:tblPr/>
              <a:tblGrid>
                <a:gridCol w="4132484"/>
                <a:gridCol w="1957493"/>
                <a:gridCol w="2392491"/>
                <a:gridCol w="2392491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 YEARLY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80" kern="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STUDENT PER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student buying it themselves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college, per enrolled 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₹1,800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5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₹21,600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58368" y="3218688"/>
            <a:ext cx="10874959" cy="18449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billed per enrolled student,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flat institutional licence. Forty students cost forty seats, not four hundred.</a:t>
            </a:r>
            <a:endParaRPr lang="en-US" sz="1350" dirty="0"/>
          </a:p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renews by itself.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auto-debit and no mandate on your account. A term is paid for, and it ends.</a:t>
            </a:r>
            <a:endParaRPr lang="en-US" sz="1350" dirty="0"/>
          </a:p>
          <a:p>
            <a:pPr marL="203200" indent="-203200">
              <a:lnSpc>
                <a:spcPts val="2100"/>
              </a:lnSpc>
              <a:buSzPct val="100000"/>
              <a:buChar char="–"/>
            </a:pPr>
            <a:r>
              <a:rPr lang="en-US" sz="13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is free.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applies only if you decide to continue after seeing a full semester.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semester, one cohort, no cost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8249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166420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cohort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year or section — forty to sixty students is ideal, and one faculty co-ordinator.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8368" y="223113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221284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semester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for every student in that cohort, at no cost and with no commitment to continue.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277977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276148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the setup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 spreadsheet of names and emails; enrolment, briefing and support are ours.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331012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back at the end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used, how often, and by how many — so the decision to continue is made on evidence.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58368" y="3877056"/>
            <a:ext cx="310896" cy="310896"/>
          </a:xfrm>
          <a:prstGeom prst="ellipse">
            <a:avLst/>
          </a:prstGeom>
          <a:solidFill>
            <a:srgbClr val="D4A017">
              <a:alpha val="16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15568" y="3858768"/>
            <a:ext cx="1041775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 decide —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at the seat rate, or stop and keep the drafts your students made. No penalty either way.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58368" y="464515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5FCC8D">
              <a:alpha val="8000"/>
            </a:srgbClr>
          </a:solidFill>
          <a:ln w="12700">
            <a:solidFill>
              <a:srgbClr val="5FCC8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471830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FC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call success.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usage number we chose for ourselves — a straight answer from your faculty co-ordinator to one question: did the students who used it produce better work than the students who did not?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6455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618927" y="6455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2062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658368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things, and the first takes an hour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1371600" cy="25603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2029968" y="1417320"/>
            <a:ext cx="9503359" cy="25603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1664208"/>
            <a:ext cx="3490874" cy="1737360"/>
          </a:xfrm>
          <a:prstGeom prst="roundRect">
            <a:avLst>
              <a:gd name="adj" fmla="val 2632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1792224"/>
            <a:ext cx="3307994" cy="782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2629916"/>
            <a:ext cx="3271418" cy="680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demonstration for your faculty — one hour, in your building or online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50410" y="1664208"/>
            <a:ext cx="3490874" cy="1737360"/>
          </a:xfrm>
          <a:prstGeom prst="roundRect">
            <a:avLst>
              <a:gd name="adj" fmla="val 2632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41850" y="1792224"/>
            <a:ext cx="3307994" cy="782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2"/>
          <p:cNvSpPr txBox="1"/>
          <p:nvPr/>
        </p:nvSpPr>
        <p:spPr>
          <a:xfrm>
            <a:off x="4460138" y="2629916"/>
            <a:ext cx="3271418" cy="680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co-ordinator and a cohort — one member of staff, one section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2453" y="1664208"/>
            <a:ext cx="3490874" cy="1737360"/>
          </a:xfrm>
          <a:prstGeom prst="roundRect">
            <a:avLst>
              <a:gd name="adj" fmla="val 2632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33893" y="1792224"/>
            <a:ext cx="3307994" cy="782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600" dirty="0"/>
          </a:p>
        </p:txBody>
      </p:sp>
      <p:sp>
        <p:nvSpPr>
          <p:cNvPr id="18" name="Text 15"/>
          <p:cNvSpPr txBox="1"/>
          <p:nvPr/>
        </p:nvSpPr>
        <p:spPr>
          <a:xfrm>
            <a:off x="8152181" y="2629916"/>
            <a:ext cx="3271418" cy="680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list, and we start — students are enrolled within a week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8368" y="3639312"/>
            <a:ext cx="10874959" cy="818896"/>
          </a:xfrm>
          <a:prstGeom prst="roundRect">
            <a:avLst>
              <a:gd name="adj" fmla="val 6700"/>
            </a:avLst>
          </a:prstGeom>
          <a:solidFill>
            <a:srgbClr val="7FB2F0">
              <a:alpha val="8000"/>
            </a:srgbClr>
          </a:solidFill>
          <a:ln w="12700">
            <a:solidFill>
              <a:srgbClr val="7FB2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2688" y="3712464"/>
            <a:ext cx="10326319" cy="672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7FB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papers come first.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data-protection undertaking is signed and handed over before any student is enrolled — not afterwards.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7795260" y="4663440"/>
            <a:ext cx="3703320" cy="1172718"/>
          </a:xfrm>
          <a:prstGeom prst="diamond">
            <a:avLst/>
          </a:prstGeom>
          <a:solidFill>
            <a:srgbClr val="D4A017">
              <a:alpha val="22000"/>
            </a:srgbClr>
          </a:solidFill>
          <a:ln w="9525">
            <a:solidFill>
              <a:srgbClr val="D4A017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5115" y="4144975"/>
            <a:ext cx="3283610" cy="1036930"/>
          </a:xfrm>
          <a:prstGeom prst="diamond">
            <a:avLst/>
          </a:prstGeom>
          <a:solidFill>
            <a:srgbClr val="F2F0EA">
              <a:alpha val="12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0281" y="3675888"/>
            <a:ext cx="2913278" cy="925830"/>
          </a:xfrm>
          <a:prstGeom prst="diamond">
            <a:avLst/>
          </a:prstGeom>
          <a:solidFill>
            <a:srgbClr val="F2F0EA">
              <a:alpha val="9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447" y="3231490"/>
            <a:ext cx="2542946" cy="814730"/>
          </a:xfrm>
          <a:prstGeom prst="diamond">
            <a:avLst/>
          </a:prstGeom>
          <a:solidFill>
            <a:srgbClr val="F2F0EA">
              <a:alpha val="6000"/>
            </a:srgbClr>
          </a:solidFill>
          <a:ln w="9525">
            <a:solidFill>
              <a:srgbClr val="D4A017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90177" y="1947672"/>
            <a:ext cx="913486" cy="1185062"/>
          </a:xfrm>
          <a:prstGeom prst="roundRect">
            <a:avLst>
              <a:gd name="adj" fmla="val 5005"/>
            </a:avLst>
          </a:prstGeom>
          <a:solidFill>
            <a:srgbClr val="E8E2D2">
              <a:alpha val="40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90177" y="1947672"/>
            <a:ext cx="913486" cy="160477"/>
          </a:xfrm>
          <a:prstGeom prst="rect">
            <a:avLst/>
          </a:prstGeom>
          <a:solidFill>
            <a:srgbClr val="D4A0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25966" y="2280971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5966" y="2447620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5966" y="2614270"/>
            <a:ext cx="641909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25966" y="2780919"/>
            <a:ext cx="353050" cy="39502"/>
          </a:xfrm>
          <a:prstGeom prst="rect">
            <a:avLst/>
          </a:prstGeom>
          <a:solidFill>
            <a:srgbClr val="6E6A5E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33331" y="2762402"/>
            <a:ext cx="234544" cy="234544"/>
          </a:xfrm>
          <a:prstGeom prst="ellipse">
            <a:avLst/>
          </a:prstGeom>
          <a:solidFill>
            <a:srgbClr val="D4A017">
              <a:alpha val="60000"/>
            </a:srgbClr>
          </a:solidFill>
          <a:ln w="9525">
            <a:solidFill>
              <a:srgbClr val="D4A017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048256"/>
            <a:ext cx="768096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2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658368" y="2977896"/>
            <a:ext cx="219456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19735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0C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 demonstration whenever it suits you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764280"/>
            <a:ext cx="6949440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show it live to you, to your faculty, or to a room of students — and to answer anything on data protection in front of whoever in the institution needs to hear the answer.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lexforge-ai.vercel.app</a:t>
            </a:r>
            <a:pPr indent="0" marL="0">
              <a:buNone/>
            </a:pPr>
            <a:r>
              <a:rPr lang="en-US" sz="125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25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support.lexforge@gmail.com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LexForge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LexForge AI — For Law Colleges</dc:title>
  <dc:subject>What it gives your students, and the pilot we are proposing</dc:subject>
  <dc:creator>LexForge AI</dc:creator>
  <cp:lastModifiedBy>LexForge AI</cp:lastModifiedBy>
  <cp:revision>1</cp:revision>
  <dcterms:created xsi:type="dcterms:W3CDTF">2026-09-02T04:14:13Z</dcterms:created>
  <dcterms:modified xsi:type="dcterms:W3CDTF">2026-09-02T04:14:13Z</dcterms:modified>
</cp:coreProperties>
</file>