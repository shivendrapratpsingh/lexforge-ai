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what the app is for: a working Indian legal practice in one place — drafting, research, clients, dates — and a set of services built for teaching on top of it. This deck walks every one of them and, for each, exactly where to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needs to read a deck in order. Point at the two or three chapters that matter to this audience and say the rest is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out loud that there is nothing to install and no app-store download — this is the first question every college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college added them from the spreadsheet, the account already exists. Stress step 6 — it is the one that causes lockouts.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in the deck for reducing support load. Say it plainly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feature, not a bug. A college pays per seat; without it, one login becomes a whole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physical menu on screen while this slide is up. The grouping is the mental model: practice on top, teaching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point: free is limited by quantity, not by capability. Every document type and every language is open to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 worth saying aloud: this screen shows a practice as a working system — matters, dates, documents — rather than a series of one-off drafts. That framing is the thing students most often have not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 types, every Indian court, seven languages. Do not read the list — say the shape of it and move to the four ways in, which is the slide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twenty are on the free plan. The free limit is on how many you generate in a month, not on which kinds — that distinction matters to a college deciding whether to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slide in the drafting chapter. The choice matters more than it looks — and Smart Q&amp;A is the one to demonstrate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court list is genuinely all-India, which is the thing that surprises people who assume it is a UP-only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export formatting is the detail practitioners notice: it comes out looking like a filing, not like a chat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that lands with practising lawyers. Hand it a folder you have just been given and it tells you what is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Clone plus version history is the assignment-setting combination — mention it here and it pays off in chapter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plain-words search is the point. Students do not know the name of the Act — that is exactly why they are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court data. The CNR number is on any cause list or order sheet — worth showing one so nobody has to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panels. Then the next slide, which is the one to slow down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 minute here. For a law faculty this is the slide that decides whether they take the product seriously, and it is the honest answer to the objection they are already forming.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floating button. Handy, but the limitation is the interesting part — say it, do not hide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takes a document you paste in and gives back something usable. The Order Analyzer is the best classroom demonstration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for Clients is in the drafting form. The payoff for Court Dates is on the Dashboard. Say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plan. That means you can set work for a whole batch whether or not every student is on the college plan yet — worth saying to a college still deciding.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student hub. Four live services, two marked coming soon — do not build a class around those two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teaching note on this slide is the most valuable idea in the deck. Correcting a competent-looking draft is harder — and more useful — than starting from a blank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this during a careers session. It answers the question first-years actually ask, which is not “what is the law” but “what happens to me after this”.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chapter applies to one person per college. If the Faculty group is missing from their menu, their account has not been marked yet — that is a same-day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one-at-a-time route, and that is deliberate: sixty students added by hand is sixty chances to mistype an email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Account recovery again. It is the second time in the deck and that is intentional.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slide. Do not read it out — leave it up while you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twenty are on the free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vocabulary point is the one that matters. It is not translation — each language carries the court vocabulary that language actually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at the end. Most of what a college will email about is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handing over the Word manual as the reference companion to this deck — same content, but organised for someone sitting alone with a question rather than standing in front of a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7475220" y="4617720"/>
            <a:ext cx="3977640" cy="1259586"/>
          </a:xfrm>
          <a:prstGeom prst="diamond">
            <a:avLst/>
          </a:prstGeom>
          <a:solidFill>
            <a:srgbClr val="D4A017">
              <a:alpha val="22000"/>
            </a:srgbClr>
          </a:solidFill>
          <a:ln w="9525">
            <a:solidFill>
              <a:srgbClr val="D4A017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0620" y="4060850"/>
            <a:ext cx="3526841" cy="1113739"/>
          </a:xfrm>
          <a:prstGeom prst="diamond">
            <a:avLst/>
          </a:prstGeom>
          <a:solidFill>
            <a:srgbClr val="F2F0EA">
              <a:alpha val="12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99502" y="3557016"/>
            <a:ext cx="3129077" cy="994410"/>
          </a:xfrm>
          <a:prstGeom prst="diamond">
            <a:avLst/>
          </a:prstGeom>
          <a:solidFill>
            <a:srgbClr val="F2F0EA">
              <a:alpha val="9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8384" y="3079699"/>
            <a:ext cx="2731313" cy="875081"/>
          </a:xfrm>
          <a:prstGeom prst="diamond">
            <a:avLst/>
          </a:prstGeom>
          <a:solidFill>
            <a:srgbClr val="F2F0EA">
              <a:alpha val="6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3464" y="1700784"/>
            <a:ext cx="981151" cy="1272845"/>
          </a:xfrm>
          <a:prstGeom prst="roundRect">
            <a:avLst>
              <a:gd name="adj" fmla="val 4660"/>
            </a:avLst>
          </a:prstGeom>
          <a:solidFill>
            <a:srgbClr val="E8E2D2">
              <a:alpha val="40000"/>
            </a:srgbClr>
          </a:solidFill>
          <a:ln w="12700">
            <a:solidFill>
              <a:srgbClr val="D4A01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3464" y="1700784"/>
            <a:ext cx="981151" cy="172364"/>
          </a:xfrm>
          <a:prstGeom prst="rect">
            <a:avLst/>
          </a:prstGeom>
          <a:solidFill>
            <a:srgbClr val="D4A01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19311" y="2058772"/>
            <a:ext cx="689458" cy="42428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19311" y="2237765"/>
            <a:ext cx="689458" cy="42428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19311" y="2416759"/>
            <a:ext cx="689458" cy="42428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19311" y="2595753"/>
            <a:ext cx="379202" cy="42428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56852" y="2575865"/>
            <a:ext cx="251917" cy="251917"/>
          </a:xfrm>
          <a:prstGeom prst="ellipse">
            <a:avLst/>
          </a:prstGeom>
          <a:solidFill>
            <a:srgbClr val="D4A017">
              <a:alpha val="60000"/>
            </a:srgbClr>
          </a:solidFill>
          <a:ln w="9525">
            <a:solidFill>
              <a:srgbClr val="D4A017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0848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spc="500" kern="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LEXFORGE AI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658368" y="2999232"/>
            <a:ext cx="219456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246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i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Manual for Faculty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58368" y="38587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in the app, and how to reach 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" y="5852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lexforge-ai.vercel.app</a:t>
            </a:r>
            <a:pPr indent="0" marL="0">
              <a:buNone/>
            </a:pPr>
            <a:r>
              <a:rPr lang="en-US" sz="12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support.lexforge@gmail.com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covers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664208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81051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Before you start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59536" y="2167128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in, the compulsory first-time setup, moving around, free and Pro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56506" y="1664208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56506" y="1664208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4557674" y="181051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Dashboard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57674" y="2167128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screen, and what it answers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54645" y="1664208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54645" y="1664208"/>
            <a:ext cx="3478682" cy="41148"/>
          </a:xfrm>
          <a:prstGeom prst="rect">
            <a:avLst/>
          </a:prstGeom>
          <a:solidFill>
            <a:srgbClr val="F0C550"/>
          </a:solidFill>
          <a:ln/>
        </p:spPr>
      </p:sp>
      <p:sp>
        <p:nvSpPr>
          <p:cNvPr id="20" name="Text 17"/>
          <p:cNvSpPr/>
          <p:nvPr/>
        </p:nvSpPr>
        <p:spPr>
          <a:xfrm>
            <a:off x="8255813" y="181051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Drafting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55813" y="2167128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Document, the four ways in, My Documents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58368" y="2889504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2889504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4" name="Text 21"/>
          <p:cNvSpPr/>
          <p:nvPr/>
        </p:nvSpPr>
        <p:spPr>
          <a:xfrm>
            <a:off x="859536" y="3035808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Research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9536" y="3392424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Search, Case Law &amp; Status, Legal Research, Case Assistant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56506" y="2889504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56506" y="2889504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8" name="Text 25"/>
          <p:cNvSpPr/>
          <p:nvPr/>
        </p:nvSpPr>
        <p:spPr>
          <a:xfrm>
            <a:off x="4557674" y="3035808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Practice tools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57674" y="3392424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analysers, Clients, Court Dates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054645" y="2889504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54645" y="2889504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32" name="Text 29"/>
          <p:cNvSpPr/>
          <p:nvPr/>
        </p:nvSpPr>
        <p:spPr>
          <a:xfrm>
            <a:off x="8255813" y="3035808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Teaching services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255813" y="3392424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Learn, and the Future Lawyer hub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58368" y="4114800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8368" y="4114800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36" name="Text 33"/>
          <p:cNvSpPr/>
          <p:nvPr/>
        </p:nvSpPr>
        <p:spPr>
          <a:xfrm>
            <a:off x="859536" y="4261104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My College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59536" y="4617720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faculty co-ordinators — students, batches, usage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356506" y="4114800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356506" y="4114800"/>
            <a:ext cx="3478682" cy="41148"/>
          </a:xfrm>
          <a:prstGeom prst="rect">
            <a:avLst/>
          </a:prstGeom>
          <a:solidFill>
            <a:srgbClr val="9A958C"/>
          </a:solidFill>
          <a:ln/>
        </p:spPr>
      </p:sp>
      <p:sp>
        <p:nvSpPr>
          <p:cNvPr id="40" name="Text 37"/>
          <p:cNvSpPr/>
          <p:nvPr/>
        </p:nvSpPr>
        <p:spPr>
          <a:xfrm>
            <a:off x="4557674" y="4261104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Your account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4557674" y="4617720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password, recovery, plan, your data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8054645" y="4114800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054645" y="4114800"/>
            <a:ext cx="3478682" cy="41148"/>
          </a:xfrm>
          <a:prstGeom prst="rect">
            <a:avLst/>
          </a:prstGeom>
          <a:solidFill>
            <a:srgbClr val="9A958C"/>
          </a:solidFill>
          <a:ln/>
        </p:spPr>
      </p:sp>
      <p:sp>
        <p:nvSpPr>
          <p:cNvPr id="44" name="Text 41"/>
          <p:cNvSpPr/>
          <p:nvPr/>
        </p:nvSpPr>
        <p:spPr>
          <a:xfrm>
            <a:off x="8255813" y="4261104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8255813" y="4617720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document types, all 7 languages, and what to do when something breaks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658368" y="5358384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32688" y="5431536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service slide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a gold box. That is the click path — the thing you will actually be looking for.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253935" y="822960"/>
            <a:ext cx="42976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start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3822192"/>
            <a:ext cx="1737360" cy="320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069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in, the setup you cannot skip, and how to find anything.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1.1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app lives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1051560"/>
          </a:xfrm>
          <a:prstGeom prst="roundRect">
            <a:avLst>
              <a:gd name="adj" fmla="val 6957"/>
            </a:avLst>
          </a:prstGeom>
          <a:solidFill>
            <a:srgbClr val="161616"/>
          </a:solidFill>
          <a:ln w="1587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664208"/>
            <a:ext cx="1087495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lexforge-ai.vercel.app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58368" y="2953512"/>
            <a:ext cx="10874959" cy="1510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5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install. </a:t>
            </a:r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in any browser.</a:t>
            </a:r>
            <a:endParaRPr lang="en-US" sz="1550" dirty="0"/>
          </a:p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5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tablet and phone. </a:t>
            </a:r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layout is a real app layout, not a shrunken website.</a:t>
            </a:r>
            <a:endParaRPr lang="en-US" sz="1550" dirty="0"/>
          </a:p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5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to your home screen. </a:t>
            </a:r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in Chrome or Safari, use the browser menu, choose Add to Home Screen. It then opens like any other app.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58368" y="4702126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4775278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download, no app store.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also means no update to install — everyone is always on the current version.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1.2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sign-in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166420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site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choose Sign in.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223113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231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21284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email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password the college gave you.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277977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779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5568" y="276148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setup screen appears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 cannot skip it. Nothing else opens until it is done.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3328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5568" y="331012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full name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this appears on your dashboard and on every document you generate.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58368" y="387705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877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15568" y="385876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own password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college does not keep it and cannot see it.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58368" y="44256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4425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15568" y="440740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security question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type an answer.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658368" y="5193792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F8A80">
              <a:alpha val="8000"/>
            </a:srgbClr>
          </a:solidFill>
          <a:ln w="12700">
            <a:solidFill>
              <a:srgbClr val="FF8A8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2688" y="526694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rush step 6.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way back into your account. There is no reset link sent to your email.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1.2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security question is the whole recovery 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1783080"/>
          </a:xfrm>
          <a:prstGeom prst="roundRect">
            <a:avLst>
              <a:gd name="adj" fmla="val 4103"/>
            </a:avLst>
          </a:prstGeom>
          <a:solidFill>
            <a:srgbClr val="FF8A80">
              <a:alpha val="7000"/>
            </a:srgbClr>
          </a:solidFill>
          <a:ln w="15875">
            <a:solidFill>
              <a:srgbClr val="FF8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1920240"/>
            <a:ext cx="1014343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8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“reset link” email.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024128" y="2505456"/>
            <a:ext cx="101434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forget your password, the app asks your security question and nothing else. If no question is set on the account, there is no self-service way back in.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58368" y="375818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" y="4087368"/>
            <a:ext cx="10874959" cy="1211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question whose answer will not change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 you will not spell two different ways.</a:t>
            </a:r>
            <a:endParaRPr lang="en-US" sz="1500" dirty="0"/>
          </a:p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 is set now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☰ → You → Account → Account recovery. It takes twenty seconds.</a:t>
            </a:r>
            <a:endParaRPr lang="en-US" sz="1500" dirty="0"/>
          </a:p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not set and you are locked out,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support. That is the only route.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1.3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device at a time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664208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Signing in on a second device signs you out of the first.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58368" y="2441448"/>
            <a:ext cx="3478682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41448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258775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" y="2944368"/>
            <a:ext cx="311292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 pays for one seat per person. A shared login would quietly become one login used by a whole batch.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56506" y="2441448"/>
            <a:ext cx="3478682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56506" y="2441448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4"/>
          <p:cNvSpPr/>
          <p:nvPr/>
        </p:nvSpPr>
        <p:spPr>
          <a:xfrm>
            <a:off x="4557674" y="258775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in practice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57674" y="2944368"/>
            <a:ext cx="311292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on the classroom desktop and your phone signs out. Sign in again on the phone when you need it.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54645" y="2441448"/>
            <a:ext cx="3478682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54645" y="2441448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21" name="Text 18"/>
          <p:cNvSpPr/>
          <p:nvPr/>
        </p:nvSpPr>
        <p:spPr>
          <a:xfrm>
            <a:off x="8255813" y="258775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not lose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55813" y="2944368"/>
            <a:ext cx="311292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Nothing. Your documents live on the server, not on the device you happened to be using.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58368" y="4279392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2688" y="435254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get signed out unexpectedly,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happened — usually you, on your own phone. Just sign in again.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1.4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your way around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664208"/>
            <a:ext cx="108749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</a:t>
            </a:r>
            <a:pPr indent="0" marL="0">
              <a:buNone/>
            </a:pPr>
            <a:r>
              <a:rPr lang="en-US" sz="15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menu button, top left. Everything in the app is behind it, in four groups: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8368" y="2121408"/>
            <a:ext cx="2554148" cy="1783080"/>
          </a:xfrm>
          <a:prstGeom prst="roundRect">
            <a:avLst>
              <a:gd name="adj" fmla="val 256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21408"/>
            <a:ext cx="2554148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22677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" y="2624328"/>
            <a:ext cx="218838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New Document · My Documents · Clients · Court Dates · Legal Tools · Legal Research · Case Law &amp; Status · Act Search · Study &amp; Learn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31972" y="2121408"/>
            <a:ext cx="2554148" cy="1783080"/>
          </a:xfrm>
          <a:prstGeom prst="roundRect">
            <a:avLst>
              <a:gd name="adj" fmla="val 256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31972" y="2121408"/>
            <a:ext cx="2554148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17" name="Text 14"/>
          <p:cNvSpPr/>
          <p:nvPr/>
        </p:nvSpPr>
        <p:spPr>
          <a:xfrm>
            <a:off x="3633140" y="22677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Lawyer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633140" y="2624328"/>
            <a:ext cx="218838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the student hub: Q&amp;A, moot memorials, career roadmap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05576" y="2121408"/>
            <a:ext cx="2554148" cy="1783080"/>
          </a:xfrm>
          <a:prstGeom prst="roundRect">
            <a:avLst>
              <a:gd name="adj" fmla="val 256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05576" y="2121408"/>
            <a:ext cx="2554148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6744" y="22677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6744" y="2624328"/>
            <a:ext cx="218838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college. This group only appears if you have been made your college’s co-ordinator.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979179" y="2121408"/>
            <a:ext cx="2554148" cy="1783080"/>
          </a:xfrm>
          <a:prstGeom prst="roundRect">
            <a:avLst>
              <a:gd name="adj" fmla="val 256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979179" y="2121408"/>
            <a:ext cx="2554148" cy="41148"/>
          </a:xfrm>
          <a:prstGeom prst="rect">
            <a:avLst/>
          </a:prstGeom>
          <a:solidFill>
            <a:srgbClr val="9A958C"/>
          </a:solidFill>
          <a:ln/>
        </p:spPr>
      </p:sp>
      <p:sp>
        <p:nvSpPr>
          <p:cNvPr id="25" name="Text 22"/>
          <p:cNvSpPr/>
          <p:nvPr/>
        </p:nvSpPr>
        <p:spPr>
          <a:xfrm>
            <a:off x="9180347" y="22677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80347" y="2624328"/>
            <a:ext cx="218838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— your name, password, recovery, plan and data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8368" y="4142232"/>
            <a:ext cx="10874959" cy="1075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400"/>
              </a:lnSpc>
              <a:buSzPct val="100000"/>
              <a:buChar char="–"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bottom bar: Dashboard, Drafts, the gold ✦ button (New Document), Court Dates, and ⋯ More.</a:t>
            </a:r>
            <a:endParaRPr lang="en-US" sz="1450" dirty="0"/>
          </a:p>
          <a:p>
            <a:pPr marL="203200" indent="-203200">
              <a:lnSpc>
                <a:spcPts val="2400"/>
              </a:lnSpc>
              <a:buSzPct val="100000"/>
              <a:buChar char="–"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💬 button, bottom right. That is the Case Assistant.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1.5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and Pro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5327752" cy="1965960"/>
          </a:xfrm>
          <a:prstGeom prst="roundRect">
            <a:avLst>
              <a:gd name="adj" fmla="val 232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664208"/>
            <a:ext cx="5327752" cy="41148"/>
          </a:xfrm>
          <a:prstGeom prst="rect">
            <a:avLst/>
          </a:prstGeom>
          <a:solidFill>
            <a:srgbClr val="9A958C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810512"/>
            <a:ext cx="49619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59536" y="2167128"/>
            <a:ext cx="4961992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document types.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languages.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Search, Study &amp; Learn and Future Lawyer, fully open.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2 generated documents per calendar month.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05576" y="1664208"/>
            <a:ext cx="5327752" cy="1965960"/>
          </a:xfrm>
          <a:prstGeom prst="roundRect">
            <a:avLst>
              <a:gd name="adj" fmla="val 232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05576" y="1664208"/>
            <a:ext cx="532775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6406744" y="1810512"/>
            <a:ext cx="49619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6744" y="2167128"/>
            <a:ext cx="4961992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documents and longer drafts.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services marked PRO: Clients, Court Dates, Legal Tools, Legal Research, Case Law &amp; Status, and the Case Assistant.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386791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394106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college has an active plan,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Pro automatically for as long as it runs. No payment, no card details. Confirm it at ☰ → You → Account → Plan &amp; usage.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" y="492455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688" y="499770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service you expect is locked,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Account → College. If it does not name your college, your account is not linked yet — email support.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253935" y="822960"/>
            <a:ext cx="42976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3822192"/>
            <a:ext cx="1737360" cy="320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069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screen. It answers one question and gets out of the way.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89611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104177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Lawyer → Dashboard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bottom bar → Dashboard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907792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counters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9536" y="3410712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documents, how many are finalised, and how many clients. The clients counter is a link.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56506" y="2907792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6506" y="2907792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0" name="Text 17"/>
          <p:cNvSpPr/>
          <p:nvPr/>
        </p:nvSpPr>
        <p:spPr>
          <a:xfrm>
            <a:off x="4557674" y="305409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hearing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57674" y="3410712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soonest entry from Court Dates, pulled to the top.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54645" y="2907792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54645" y="2907792"/>
            <a:ext cx="3478682" cy="41148"/>
          </a:xfrm>
          <a:prstGeom prst="rect">
            <a:avLst/>
          </a:prstGeom>
          <a:solidFill>
            <a:srgbClr val="FF8A80"/>
          </a:solidFill>
          <a:ln/>
        </p:spPr>
      </p:sp>
      <p:sp>
        <p:nvSpPr>
          <p:cNvPr id="24" name="Text 21"/>
          <p:cNvSpPr/>
          <p:nvPr/>
        </p:nvSpPr>
        <p:spPr>
          <a:xfrm>
            <a:off x="8255813" y="305409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55813" y="3410712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falling in the next seven days, in red, with the document it belongs to.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8368" y="4133088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4133088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Text 25"/>
          <p:cNvSpPr/>
          <p:nvPr/>
        </p:nvSpPr>
        <p:spPr>
          <a:xfrm>
            <a:off x="859536" y="427939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documents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59536" y="4636008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one to reopen it and keep editing where you left off.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56506" y="4133088"/>
            <a:ext cx="3478682" cy="100584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56506" y="4133088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32" name="Text 29"/>
          <p:cNvSpPr/>
          <p:nvPr/>
        </p:nvSpPr>
        <p:spPr>
          <a:xfrm>
            <a:off x="4557674" y="427939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links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57674" y="4636008"/>
            <a:ext cx="31129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into Case Law &amp; Status, Legal Research and the Moot Court Memorial Builder.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58368" y="5376672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32688" y="544982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screen to put on the projector first. It shows a practice, not a document generator.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253935" y="822960"/>
            <a:ext cx="42976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Drafting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3822192"/>
            <a:ext cx="1737360" cy="320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069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the app. Everything else supports it.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Document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89611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104177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Lawyer → New Document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the gold ✦ button in the middle of the bottom bar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" y="2907792"/>
            <a:ext cx="1087495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court-ready Indian legal document from facts you supply.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58368" y="3474720"/>
            <a:ext cx="2554148" cy="11430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474720"/>
            <a:ext cx="2554148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" y="3621024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9536" y="3977640"/>
            <a:ext cx="218838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document type — 20 of them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431972" y="3474720"/>
            <a:ext cx="2554148" cy="11430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31972" y="3474720"/>
            <a:ext cx="2554148" cy="41148"/>
          </a:xfrm>
          <a:prstGeom prst="rect">
            <a:avLst/>
          </a:prstGeom>
          <a:solidFill>
            <a:srgbClr val="F0C550"/>
          </a:solidFill>
          <a:ln/>
        </p:spPr>
      </p:sp>
      <p:sp>
        <p:nvSpPr>
          <p:cNvPr id="21" name="Text 18"/>
          <p:cNvSpPr/>
          <p:nvPr/>
        </p:nvSpPr>
        <p:spPr>
          <a:xfrm>
            <a:off x="3633140" y="3621024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633140" y="3977640"/>
            <a:ext cx="218838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how you will give it the facts — four ways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05576" y="3474720"/>
            <a:ext cx="2554148" cy="11430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05576" y="3474720"/>
            <a:ext cx="2554148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Text 22"/>
          <p:cNvSpPr/>
          <p:nvPr/>
        </p:nvSpPr>
        <p:spPr>
          <a:xfrm>
            <a:off x="6406744" y="3621024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6744" y="3977640"/>
            <a:ext cx="218838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details for that document type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979179" y="3474720"/>
            <a:ext cx="2554148" cy="11430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79179" y="3474720"/>
            <a:ext cx="2554148" cy="41148"/>
          </a:xfrm>
          <a:prstGeom prst="rect">
            <a:avLst/>
          </a:prstGeom>
          <a:solidFill>
            <a:srgbClr val="F0C550"/>
          </a:solidFill>
          <a:ln/>
        </p:spPr>
      </p:sp>
      <p:sp>
        <p:nvSpPr>
          <p:cNvPr id="29" name="Text 26"/>
          <p:cNvSpPr/>
          <p:nvPr/>
        </p:nvSpPr>
        <p:spPr>
          <a:xfrm>
            <a:off x="9180347" y="3621024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180347" y="3977640"/>
            <a:ext cx="218838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court and the language, then Generate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58368" y="4855464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32688" y="4928616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to ninety seconds.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is a full document, not an outline — and it is editable on the spot.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3.1 — STEP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 document types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664208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Notice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862621" y="1664208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17485" y="1664208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Brief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66873" y="1664208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1737" y="1664208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271126" y="1664208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25990" y="1664208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Petition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475379" y="1664208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30243" y="1664208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Memorandum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8368" y="2377440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2377440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 Petition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862621" y="2377440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17485" y="2377440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Vakalatnama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66873" y="2377440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1737" y="2377440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Application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271126" y="2377440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25990" y="2377440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Application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9475379" y="2377440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30243" y="2377440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Affidavit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58368" y="3090672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3090672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862621" y="3090672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17485" y="3090672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RTI Application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066873" y="3090672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21737" y="3090672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Complaint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7271126" y="3090672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25990" y="3090672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 Petition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9475379" y="3090672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530243" y="3090672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Agreement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658368" y="3803904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" y="3803904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Deed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2862621" y="3803904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917485" y="3803904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Bounce Notice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5066873" y="3803904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21737" y="3803904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Opinion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7271126" y="3803904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25990" y="3803904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Complaint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9475379" y="3803904"/>
            <a:ext cx="2057949" cy="566928"/>
          </a:xfrm>
          <a:prstGeom prst="roundRect">
            <a:avLst>
              <a:gd name="adj" fmla="val 3225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530243" y="3803904"/>
            <a:ext cx="194822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</a:t>
            </a:r>
            <a:endParaRPr 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658368" y="460857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32688" y="468172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twenty are available on the free plan.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limit is on how many documents you generate in a month, not on which kinds you may use.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658368" y="5665216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descriptions in Appendix 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3.1 — STEP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to give it the facts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2554148" cy="2011680"/>
          </a:xfrm>
          <a:prstGeom prst="roundRect">
            <a:avLst>
              <a:gd name="adj" fmla="val 227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664208"/>
            <a:ext cx="2554148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8105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Fill Form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9536" y="2167128"/>
            <a:ext cx="218838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the facts in front of you. Structured fields, fastest route.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default.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431972" y="1664208"/>
            <a:ext cx="2554148" cy="2011680"/>
          </a:xfrm>
          <a:prstGeom prst="roundRect">
            <a:avLst>
              <a:gd name="adj" fmla="val 227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31972" y="1664208"/>
            <a:ext cx="2554148" cy="41148"/>
          </a:xfrm>
          <a:prstGeom prst="rect">
            <a:avLst/>
          </a:prstGeom>
          <a:solidFill>
            <a:srgbClr val="F0C550"/>
          </a:solidFill>
          <a:ln/>
        </p:spPr>
      </p:sp>
      <p:sp>
        <p:nvSpPr>
          <p:cNvPr id="16" name="Text 13"/>
          <p:cNvSpPr/>
          <p:nvPr/>
        </p:nvSpPr>
        <p:spPr>
          <a:xfrm>
            <a:off x="3633140" y="18105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Smart Q&amp;A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33140" y="2167128"/>
            <a:ext cx="218838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asks one question at a time and waits. Slower — but you cannot leave anything out.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05576" y="1664208"/>
            <a:ext cx="2554148" cy="2011680"/>
          </a:xfrm>
          <a:prstGeom prst="roundRect">
            <a:avLst>
              <a:gd name="adj" fmla="val 227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5576" y="1664208"/>
            <a:ext cx="2554148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0" name="Text 17"/>
          <p:cNvSpPr/>
          <p:nvPr/>
        </p:nvSpPr>
        <p:spPr>
          <a:xfrm>
            <a:off x="6406744" y="18105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Paste Document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6744" y="2167128"/>
            <a:ext cx="218838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a similar document as text. Paste it and the AI pulls the details into the form.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979179" y="1664208"/>
            <a:ext cx="2554148" cy="2011680"/>
          </a:xfrm>
          <a:prstGeom prst="roundRect">
            <a:avLst>
              <a:gd name="adj" fmla="val 227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79179" y="1664208"/>
            <a:ext cx="2554148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24" name="Text 21"/>
          <p:cNvSpPr/>
          <p:nvPr/>
        </p:nvSpPr>
        <p:spPr>
          <a:xfrm>
            <a:off x="9180347" y="18105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Upload Folder / File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180347" y="2167128"/>
            <a:ext cx="218838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folder, a Word file, or a scanned PDF. The AI reads all of it and fills the form.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58368" y="3913632"/>
            <a:ext cx="10874959" cy="1072896"/>
          </a:xfrm>
          <a:prstGeom prst="roundRect">
            <a:avLst>
              <a:gd name="adj" fmla="val 5114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" y="3986784"/>
            <a:ext cx="10326319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Q&amp;A is the mode to use in front of a class. Students watch the app ask, in order, for exactly the facts a bail application needs — the FIR number, the sections, the date of custody, the grounds — before a single line of the document appears. That sequence is the lesson.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3.1 — STEPS 3 &amp; 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Details, court, language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1664208"/>
            <a:ext cx="1041775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details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change with the document type. A Bail Application asks for the FIR number, the sections and the date of custody; a Rent Agreement asks about the premises and the rent.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2359152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359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340864"/>
            <a:ext cx="1041775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carry a red asterisk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form tells you what is missing rather than generating something incomplete.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5568" y="3017520"/>
            <a:ext cx="1041775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client and it fills itself in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name, father’s name, age and address land in the right fields.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3712464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3712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5568" y="3694176"/>
            <a:ext cx="1041775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court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· all 25 High Courts and their benches · national tribunals · state forums · district courts across India.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58368" y="4389120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4389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15568" y="4370832"/>
            <a:ext cx="10417759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language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Hindi · Bilingual · Urdu · Tamil · Telugu · Kannada.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58368" y="5285232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2688" y="5358384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used Paste or Upload,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what the AI filled in before you generate. It is a starting point, not a finished intake.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 back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2554148" cy="1234440"/>
          </a:xfrm>
          <a:prstGeom prst="roundRect">
            <a:avLst>
              <a:gd name="adj" fmla="val 370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664208"/>
            <a:ext cx="2554148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8105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 place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59536" y="2167128"/>
            <a:ext cx="21883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by paragraph, right where it was generated.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31972" y="1664208"/>
            <a:ext cx="2554148" cy="1234440"/>
          </a:xfrm>
          <a:prstGeom prst="roundRect">
            <a:avLst>
              <a:gd name="adj" fmla="val 370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31972" y="1664208"/>
            <a:ext cx="2554148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3633140" y="18105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33140" y="2167128"/>
            <a:ext cx="21883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document to the clipboard, in one click.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05576" y="1664208"/>
            <a:ext cx="2554148" cy="1234440"/>
          </a:xfrm>
          <a:prstGeom prst="roundRect">
            <a:avLst>
              <a:gd name="adj" fmla="val 370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5576" y="1664208"/>
            <a:ext cx="2554148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20" name="Text 17"/>
          <p:cNvSpPr/>
          <p:nvPr/>
        </p:nvSpPr>
        <p:spPr>
          <a:xfrm>
            <a:off x="6406744" y="18105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6744" y="2167128"/>
            <a:ext cx="21883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appears under My Documents, with its history.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979179" y="1664208"/>
            <a:ext cx="2554148" cy="1234440"/>
          </a:xfrm>
          <a:prstGeom prst="roundRect">
            <a:avLst>
              <a:gd name="adj" fmla="val 370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79179" y="1664208"/>
            <a:ext cx="2554148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4" name="Text 21"/>
          <p:cNvSpPr/>
          <p:nvPr/>
        </p:nvSpPr>
        <p:spPr>
          <a:xfrm>
            <a:off x="9180347" y="1810512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80347" y="2167128"/>
            <a:ext cx="21883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Word (.docx) · plain text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8368" y="313639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" y="320954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 is formatted for filing.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 title and court name are centred, section headings are set apart, and numbered paragraphs stay left-aligned with their numbering intact. It is not a raw text dump.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58368" y="4330192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A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draft you have to reformat before filing is a draft you did half of yourself.”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Brief from a folder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1664208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Document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Case Brief as the type.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2249424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249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231136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Upload Folder / File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intake method.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2816352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16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5568" y="2798064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whole case folder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pleadings, orders, correspondence, scanned PDFs, all at once.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58368" y="3602736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" y="3931920"/>
            <a:ext cx="1690573" cy="502920"/>
          </a:xfrm>
          <a:prstGeom prst="roundRect">
            <a:avLst>
              <a:gd name="adj" fmla="val 3636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3931920"/>
            <a:ext cx="15808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495245" y="3931920"/>
            <a:ext cx="1690573" cy="502920"/>
          </a:xfrm>
          <a:prstGeom prst="roundRect">
            <a:avLst>
              <a:gd name="adj" fmla="val 3636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50109" y="3931920"/>
            <a:ext cx="15808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Chronology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332122" y="3931920"/>
            <a:ext cx="1690573" cy="502920"/>
          </a:xfrm>
          <a:prstGeom prst="roundRect">
            <a:avLst>
              <a:gd name="adj" fmla="val 3636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6986" y="3931920"/>
            <a:ext cx="15808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169000" y="3931920"/>
            <a:ext cx="1690573" cy="502920"/>
          </a:xfrm>
          <a:prstGeom prst="roundRect">
            <a:avLst>
              <a:gd name="adj" fmla="val 3636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23864" y="3931920"/>
            <a:ext cx="15808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005877" y="3931920"/>
            <a:ext cx="1690573" cy="502920"/>
          </a:xfrm>
          <a:prstGeom prst="roundRect">
            <a:avLst>
              <a:gd name="adj" fmla="val 3636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60741" y="3931920"/>
            <a:ext cx="15808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9842754" y="3931920"/>
            <a:ext cx="1690573" cy="502920"/>
          </a:xfrm>
          <a:prstGeom prst="roundRect">
            <a:avLst>
              <a:gd name="adj" fmla="val 36364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97618" y="3931920"/>
            <a:ext cx="15808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58368" y="4672584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32688" y="4745736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large folder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in chunks and shows progress as it goes. It is the fastest way to get on top of a file you have just been handed.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Documents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89611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104177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Lawyer → My Documents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bottom bar → Drafts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2554148" cy="1325880"/>
          </a:xfrm>
          <a:prstGeom prst="roundRect">
            <a:avLst>
              <a:gd name="adj" fmla="val 344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907792"/>
            <a:ext cx="2554148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edit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9536" y="3410712"/>
            <a:ext cx="218838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 paragraph and save.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431972" y="2907792"/>
            <a:ext cx="2554148" cy="1325880"/>
          </a:xfrm>
          <a:prstGeom prst="roundRect">
            <a:avLst>
              <a:gd name="adj" fmla="val 344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31972" y="2907792"/>
            <a:ext cx="2554148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20" name="Text 17"/>
          <p:cNvSpPr/>
          <p:nvPr/>
        </p:nvSpPr>
        <p:spPr>
          <a:xfrm>
            <a:off x="3633140" y="3054096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33140" y="3410712"/>
            <a:ext cx="218838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is kept. Restore any earlier version. Nothing is ever lost by overwriting.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05576" y="2907792"/>
            <a:ext cx="2554148" cy="1325880"/>
          </a:xfrm>
          <a:prstGeom prst="roundRect">
            <a:avLst>
              <a:gd name="adj" fmla="val 344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05576" y="2907792"/>
            <a:ext cx="2554148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4" name="Text 21"/>
          <p:cNvSpPr/>
          <p:nvPr/>
        </p:nvSpPr>
        <p:spPr>
          <a:xfrm>
            <a:off x="6406744" y="3054096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6744" y="3410712"/>
            <a:ext cx="218838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 document as the starting point for another one.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979179" y="2907792"/>
            <a:ext cx="2554148" cy="1325880"/>
          </a:xfrm>
          <a:prstGeom prst="roundRect">
            <a:avLst>
              <a:gd name="adj" fmla="val 3448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79179" y="2907792"/>
            <a:ext cx="2554148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Text 25"/>
          <p:cNvSpPr/>
          <p:nvPr/>
        </p:nvSpPr>
        <p:spPr>
          <a:xfrm>
            <a:off x="9180347" y="3054096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80347" y="3410712"/>
            <a:ext cx="218838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 or plain text, from the buttons at the top.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447141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" y="454456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is the assignment-setting tool. Build one model draft with a deliberate flaw, clone it for the batch, and set the exercise as “find what is wrong here and fix it”. Version history then shows you what each student actually changed.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253935" y="822960"/>
            <a:ext cx="42976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3822192"/>
            <a:ext cx="1737360" cy="320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069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services — and the difference between them matters.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Search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73152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104177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1041775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Lawyer → Act Search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" y="2633472"/>
            <a:ext cx="1087495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Act that governs a problem, read its key sections, and see which document you would actually file.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58368" y="3182112"/>
            <a:ext cx="5327752" cy="1417320"/>
          </a:xfrm>
          <a:prstGeom prst="roundRect">
            <a:avLst>
              <a:gd name="adj" fmla="val 322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182112"/>
            <a:ext cx="532775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" y="3328416"/>
            <a:ext cx="49619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problem in ordinary words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59536" y="3685032"/>
            <a:ext cx="4961992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tenant will not vacate after the lease ended”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cheque I received has bounced”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know the name of the Act. That is the point.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05576" y="3182112"/>
            <a:ext cx="5327752" cy="1417320"/>
          </a:xfrm>
          <a:prstGeom prst="roundRect">
            <a:avLst>
              <a:gd name="adj" fmla="val 322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05576" y="3182112"/>
            <a:ext cx="5327752" cy="41148"/>
          </a:xfrm>
          <a:prstGeom prst="rect">
            <a:avLst/>
          </a:prstGeom>
          <a:solidFill>
            <a:srgbClr val="9A958C"/>
          </a:solidFill>
          <a:ln/>
        </p:spPr>
      </p:sp>
      <p:sp>
        <p:nvSpPr>
          <p:cNvPr id="21" name="Text 18"/>
          <p:cNvSpPr/>
          <p:nvPr/>
        </p:nvSpPr>
        <p:spPr>
          <a:xfrm>
            <a:off x="6406744" y="3328416"/>
            <a:ext cx="49619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name the Act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06744" y="3685032"/>
            <a:ext cx="4961992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already know it, search it directly and go straight to the sections.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58368" y="4837176"/>
            <a:ext cx="10874959" cy="12604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100"/>
              </a:lnSpc>
              <a:buSzPct val="100000"/>
              <a:buChar char="–"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Act, its key sections in plain summary, a link to the official text on India Code, and — the part students find most useful — which document this would become if you were filing.</a:t>
            </a:r>
            <a:endParaRPr lang="en-US" sz="1350" dirty="0"/>
          </a:p>
          <a:p>
            <a:pPr marL="203200" indent="-203200">
              <a:lnSpc>
                <a:spcPts val="2100"/>
              </a:lnSpc>
              <a:buSzPct val="100000"/>
              <a:buChar char="–"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free plan: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searching, the key sections and the official link are all open. Two buttons inside a result — “See a sample” and “Judgments” — are Pro.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Law and Case Status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89611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104177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Lawyer → Case Law &amp; Status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PRO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3478682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907792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9536" y="3410712"/>
            <a:ext cx="311292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Court, High Courts and tribunals. Full-text, so “section 45 PMLA twin conditions bail” works as a query. Optional filter by court.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56506" y="2907792"/>
            <a:ext cx="3478682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6506" y="2907792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0" name="Text 17"/>
          <p:cNvSpPr/>
          <p:nvPr/>
        </p:nvSpPr>
        <p:spPr>
          <a:xfrm>
            <a:off x="4557674" y="305409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status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57674" y="3410712"/>
            <a:ext cx="311292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CNR number and get the live status of a pending case — stage, next date, the bench.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54645" y="2907792"/>
            <a:ext cx="3478682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54645" y="2907792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24" name="Text 21"/>
          <p:cNvSpPr/>
          <p:nvPr/>
        </p:nvSpPr>
        <p:spPr>
          <a:xfrm>
            <a:off x="8255813" y="305409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55813" y="3410712"/>
            <a:ext cx="311292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and amended Acts, checked every morning. It shows what has actually changed recently.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8368" y="4745736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" y="4818888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a CNR: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sixteen-character number printed on any cause list or order sheet.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Research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89611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104177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Lawyer → Legal Research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PRO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5327752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907792"/>
            <a:ext cx="532775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49619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Law Database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9536" y="3410712"/>
            <a:ext cx="496199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 filter as you go. When you want more than the shelf, “Search full index” runs a live search across the real corpus.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05576" y="2907792"/>
            <a:ext cx="5327752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5576" y="2907792"/>
            <a:ext cx="532775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0" name="Text 17"/>
          <p:cNvSpPr/>
          <p:nvPr/>
        </p:nvSpPr>
        <p:spPr>
          <a:xfrm>
            <a:off x="6406744" y="3054096"/>
            <a:ext cx="49619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Legal Analysis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6744" y="3410712"/>
            <a:ext cx="496199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 issue in a paragraph, in ordinary English, and get a structured analysis of the position.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58368" y="474573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481888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judgment relied on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listed underneath the analysis, with a link to the original. Click through — that is what the links are for.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citations here can be trusted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1280160"/>
          </a:xfrm>
          <a:prstGeom prst="roundRect">
            <a:avLst>
              <a:gd name="adj" fmla="val 5714"/>
            </a:avLst>
          </a:prstGeom>
          <a:solidFill>
            <a:srgbClr val="5FCC8D">
              <a:alpha val="8000"/>
            </a:srgbClr>
          </a:solidFill>
          <a:ln w="15875">
            <a:solidFill>
              <a:srgbClr val="5FCC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1847088"/>
            <a:ext cx="101434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5FC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is not allowed to write a citation.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1024128" y="2340864"/>
            <a:ext cx="1014343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 are retrieved from a real case-law index. If the index returns nothing verified, the app says so in plain words rather than producing something that sounds right.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3182112"/>
            <a:ext cx="3478682" cy="1371600"/>
          </a:xfrm>
          <a:prstGeom prst="roundRect">
            <a:avLst>
              <a:gd name="adj" fmla="val 333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3182112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" y="332841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Retrieved, then shown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9536" y="3685032"/>
            <a:ext cx="311292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judgment used appears under the analysis with a link to the original text.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56506" y="3182112"/>
            <a:ext cx="3478682" cy="1371600"/>
          </a:xfrm>
          <a:prstGeom prst="roundRect">
            <a:avLst>
              <a:gd name="adj" fmla="val 333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56506" y="3182112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19" name="Text 16"/>
          <p:cNvSpPr/>
          <p:nvPr/>
        </p:nvSpPr>
        <p:spPr>
          <a:xfrm>
            <a:off x="4557674" y="332841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over invention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57674" y="3685032"/>
            <a:ext cx="311292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authority means the app tells you so. It does not fill the gap.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54645" y="3182112"/>
            <a:ext cx="3478682" cy="1371600"/>
          </a:xfrm>
          <a:prstGeom prst="roundRect">
            <a:avLst>
              <a:gd name="adj" fmla="val 333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54645" y="3182112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3" name="Text 20"/>
          <p:cNvSpPr/>
          <p:nvPr/>
        </p:nvSpPr>
        <p:spPr>
          <a:xfrm>
            <a:off x="8255813" y="332841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stays out of it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55813" y="3685032"/>
            <a:ext cx="311292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assistant gives no citations at all — deliberately. Authority comes only from here and from Case Law &amp; Status.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58368" y="479145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2688" y="486460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teaching students to check authority, show them this screen and the reason it is built this way. The scepticism generalises to every other tool they will use.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Assistant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89611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104177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floating 💬 button, bottom right of any screen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PRO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2926080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926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5568" y="2907792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💬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panel opens over whatever you were doing.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3493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15568" y="3474720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ordinary English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document or an issue.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58368" y="405993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0599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15568" y="4041648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offers to start the draft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click and you are in New Document with the type already chosen.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658368" y="4846320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FF8A80">
              <a:alpha val="8000"/>
            </a:srgbClr>
          </a:solidFill>
          <a:ln w="12700">
            <a:solidFill>
              <a:srgbClr val="FF8A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2688" y="4919472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not give you a case citation.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on purpose. Keeping the conversational assistant out of the citation business is what stops it producing a case name that reads perfectly and does not exist.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253935" y="822960"/>
            <a:ext cx="42976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tools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3822192"/>
            <a:ext cx="1737360" cy="320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069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 for running matters rather than drafting them. All marked PRO.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5.1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Tools — the six analysers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Lawyer → Legal Tools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2633472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633472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277977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Order Analyzer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59536" y="3136392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court order → the directions in it, compliance dates, immediate actions, documents needed, and the favourable and adverse points.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56506" y="2633472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6506" y="2633472"/>
            <a:ext cx="3478682" cy="41148"/>
          </a:xfrm>
          <a:prstGeom prst="rect">
            <a:avLst/>
          </a:prstGeom>
          <a:solidFill>
            <a:srgbClr val="F0C550"/>
          </a:solidFill>
          <a:ln/>
        </p:spPr>
      </p:sp>
      <p:sp>
        <p:nvSpPr>
          <p:cNvPr id="20" name="Text 17"/>
          <p:cNvSpPr/>
          <p:nvPr/>
        </p:nvSpPr>
        <p:spPr>
          <a:xfrm>
            <a:off x="4557674" y="277977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Document Amendment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57674" y="3136392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document plus what you want changed → the updated version.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54645" y="2633472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54645" y="2633472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4" name="Text 21"/>
          <p:cNvSpPr/>
          <p:nvPr/>
        </p:nvSpPr>
        <p:spPr>
          <a:xfrm>
            <a:off x="8255813" y="277977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Fresh Application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255813" y="3136392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rejection order plus what has changed → a fresh bail application or petition on the new grounds.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8368" y="3931920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3931920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8" name="Text 25"/>
          <p:cNvSpPr/>
          <p:nvPr/>
        </p:nvSpPr>
        <p:spPr>
          <a:xfrm>
            <a:off x="859536" y="4078224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Appeal Generator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59536" y="4434840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impugned judgment → an appeal petition with grounds. High Court, SLP, Sessions or Revision.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356506" y="3931920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56506" y="3931920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32" name="Text 29"/>
          <p:cNvSpPr/>
          <p:nvPr/>
        </p:nvSpPr>
        <p:spPr>
          <a:xfrm>
            <a:off x="4557674" y="4078224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Counter / Reply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4557674" y="4434840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side’s document plus your client’s position → a counter affidavit or reply.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054645" y="3931920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54645" y="3931920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36" name="Text 33"/>
          <p:cNvSpPr/>
          <p:nvPr/>
        </p:nvSpPr>
        <p:spPr>
          <a:xfrm>
            <a:off x="8255813" y="4078224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Compliance Report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255813" y="4434840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you have complied with plus what you did → a compliance affidavit or report.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58368" y="524865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2688" y="532180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Analyzer separates what the court directed from what follows for the lawyer — and that gap is precisely what students do not yet see when they read a judgment.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5.2 &amp; 5.3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Clients and Court Dates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664208"/>
            <a:ext cx="524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287872" y="1664208"/>
            <a:ext cx="524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Court Dates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58368" y="2103120"/>
            <a:ext cx="5245456" cy="73152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157984"/>
            <a:ext cx="50292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1"/>
          <p:cNvSpPr/>
          <p:nvPr/>
        </p:nvSpPr>
        <p:spPr>
          <a:xfrm>
            <a:off x="896112" y="2203704"/>
            <a:ext cx="478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96112" y="2432304"/>
            <a:ext cx="47882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Lawyer → Clients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87872" y="2103120"/>
            <a:ext cx="5245456" cy="73152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87872" y="2157984"/>
            <a:ext cx="50292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5"/>
          <p:cNvSpPr/>
          <p:nvPr/>
        </p:nvSpPr>
        <p:spPr>
          <a:xfrm>
            <a:off x="6525616" y="2203704"/>
            <a:ext cx="478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525616" y="2432304"/>
            <a:ext cx="47882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Lawyer → Court Dates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8368" y="2944368"/>
            <a:ext cx="524545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000"/>
              </a:lnSpc>
              <a:buSzPct val="100000"/>
              <a:buChar char="–"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Client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father’s name, Aadhaar, phone, district, photograph.</a:t>
            </a:r>
            <a:endParaRPr lang="en-US" sz="1300" dirty="0"/>
          </a:p>
          <a:p>
            <a:pPr marL="203200" indent="-203200">
              <a:lnSpc>
                <a:spcPts val="2000"/>
              </a:lnSpc>
              <a:buSzPct val="100000"/>
              <a:buChar char="–"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Template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it, fill it, upload it back to add many at once.</a:t>
            </a:r>
            <a:endParaRPr lang="en-US" sz="1300" dirty="0"/>
          </a:p>
          <a:p>
            <a:pPr marL="203200" indent="-203200">
              <a:lnSpc>
                <a:spcPts val="2000"/>
              </a:lnSpc>
              <a:buSzPct val="100000"/>
              <a:buChar char="–"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people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Aadhaar or phone; filter by district.</a:t>
            </a:r>
            <a:endParaRPr lang="en-US" sz="1300" dirty="0"/>
          </a:p>
          <a:p>
            <a:pPr marL="203200" indent="-203200">
              <a:lnSpc>
                <a:spcPts val="2000"/>
              </a:lnSpc>
              <a:buSzPct val="100000"/>
              <a:buChar char="–"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client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documents, attachments and payments in one place.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87872" y="2944368"/>
            <a:ext cx="524545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000"/>
              </a:lnSpc>
              <a:buSzPct val="100000"/>
              <a:buChar char="–"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or case name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case number.</a:t>
            </a:r>
            <a:endParaRPr lang="en-US" sz="1300" dirty="0"/>
          </a:p>
          <a:p>
            <a:pPr marL="203200" indent="-203200">
              <a:lnSpc>
                <a:spcPts val="2000"/>
              </a:lnSpc>
              <a:buSzPct val="100000"/>
              <a:buChar char="–"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· Compliance · Filing · Order · Deadline — colour-coded.</a:t>
            </a:r>
            <a:endParaRPr lang="en-US" sz="1300" dirty="0"/>
          </a:p>
          <a:p>
            <a:pPr marL="203200" indent="-203200">
              <a:lnSpc>
                <a:spcPts val="2000"/>
              </a:lnSpc>
              <a:buSzPct val="100000"/>
              <a:buChar char="–"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document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date belongs to something you have drafted.</a:t>
            </a:r>
            <a:endParaRPr lang="en-US" sz="1300" dirty="0"/>
          </a:p>
          <a:p>
            <a:pPr marL="203200" indent="-203200">
              <a:lnSpc>
                <a:spcPts val="2000"/>
              </a:lnSpc>
              <a:buSzPct val="100000"/>
              <a:buChar char="–"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save.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8368" y="4544568"/>
            <a:ext cx="5245456" cy="932688"/>
          </a:xfrm>
          <a:prstGeom prst="roundRect">
            <a:avLst>
              <a:gd name="adj" fmla="val 5882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4617720"/>
            <a:ext cx="46968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client in New Document and their details fill themselves into the right fields.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87872" y="4544568"/>
            <a:ext cx="5245456" cy="932688"/>
          </a:xfrm>
          <a:prstGeom prst="roundRect">
            <a:avLst>
              <a:gd name="adj" fmla="val 5882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62192" y="4617720"/>
            <a:ext cx="46968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due within seven days shows on the Dashboard in red, and the soonest hearing leads it.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253935" y="822960"/>
            <a:ext cx="42976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services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3822192"/>
            <a:ext cx="1737360" cy="320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069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hubs built for students rather than for practice — and both are open on the free plan.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6.1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&amp; Learn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1005840"/>
          </a:xfrm>
          <a:prstGeom prst="roundRect">
            <a:avLst>
              <a:gd name="adj" fmla="val 5455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89611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104177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1041775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Lawyer → Study &amp; Learn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from Future Lawyer → Landmark Judgments &amp; Doctrines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2554148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907792"/>
            <a:ext cx="2554148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Landmark Judgments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9536" y="3410712"/>
            <a:ext cx="218838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Supreme Court and High Court judgments. Search by case name, area of law, doctrine, or the fact pattern.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431972" y="2907792"/>
            <a:ext cx="2554148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31972" y="2907792"/>
            <a:ext cx="2554148" cy="41148"/>
          </a:xfrm>
          <a:prstGeom prst="rect">
            <a:avLst/>
          </a:prstGeom>
          <a:solidFill>
            <a:srgbClr val="F0C550"/>
          </a:solidFill>
          <a:ln/>
        </p:spPr>
      </p:sp>
      <p:sp>
        <p:nvSpPr>
          <p:cNvPr id="20" name="Text 17"/>
          <p:cNvSpPr/>
          <p:nvPr/>
        </p:nvSpPr>
        <p:spPr>
          <a:xfrm>
            <a:off x="3633140" y="3054096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Legal Principles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33140" y="3410712"/>
            <a:ext cx="218838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doctrines, searchable by doctrine, area or keyword.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05576" y="2907792"/>
            <a:ext cx="2554148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05576" y="2907792"/>
            <a:ext cx="2554148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4" name="Text 21"/>
          <p:cNvSpPr/>
          <p:nvPr/>
        </p:nvSpPr>
        <p:spPr>
          <a:xfrm>
            <a:off x="6406744" y="3054096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AI Tutor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6744" y="3410712"/>
            <a:ext cx="218838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topic and get it explained at length — “Explain the basic structure doctrine and the cases that built it.”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979179" y="2907792"/>
            <a:ext cx="2554148" cy="1600200"/>
          </a:xfrm>
          <a:prstGeom prst="roundRect">
            <a:avLst>
              <a:gd name="adj" fmla="val 285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79179" y="2907792"/>
            <a:ext cx="2554148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28" name="Text 25"/>
          <p:cNvSpPr/>
          <p:nvPr/>
        </p:nvSpPr>
        <p:spPr>
          <a:xfrm>
            <a:off x="9180347" y="3054096"/>
            <a:ext cx="21883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Quiz &amp; Flashcards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80347" y="3410712"/>
            <a:ext cx="218838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topic — “Article 21”, “bail under CrPC” — and the app generates questions on it.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474573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" y="481888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quiz tab generates fresh questions each time from a topic you type — so it works as a five-minute revision opener with no preparation, and two students sitting together do not get the same paper.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6.2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Lawyer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Future Lawyer → Services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2633472"/>
            <a:ext cx="3478682" cy="1133856"/>
          </a:xfrm>
          <a:prstGeom prst="roundRect">
            <a:avLst>
              <a:gd name="adj" fmla="val 4032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633472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277977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AI Legal Q&amp;A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59536" y="3136392"/>
            <a:ext cx="311292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Indian law question → an answer backed by the provision, the leading judgments, and how the point tends to be examined.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56506" y="2633472"/>
            <a:ext cx="3478682" cy="1133856"/>
          </a:xfrm>
          <a:prstGeom prst="roundRect">
            <a:avLst>
              <a:gd name="adj" fmla="val 4032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6506" y="2633472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20" name="Text 17"/>
          <p:cNvSpPr/>
          <p:nvPr/>
        </p:nvSpPr>
        <p:spPr>
          <a:xfrm>
            <a:off x="4557674" y="277977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Moot Memorial Builder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57674" y="3136392"/>
            <a:ext cx="311292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proposition, pick a side → a memorial outline plus suggested authorities.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54645" y="2633472"/>
            <a:ext cx="3478682" cy="1133856"/>
          </a:xfrm>
          <a:prstGeom prst="roundRect">
            <a:avLst>
              <a:gd name="adj" fmla="val 4032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54645" y="2633472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4" name="Text 21"/>
          <p:cNvSpPr/>
          <p:nvPr/>
        </p:nvSpPr>
        <p:spPr>
          <a:xfrm>
            <a:off x="8255813" y="277977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Career Roadmap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255813" y="3136392"/>
            <a:ext cx="311292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tracks, year by year, through the degree and beyond.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8368" y="3986784"/>
            <a:ext cx="3478682" cy="1133856"/>
          </a:xfrm>
          <a:prstGeom prst="roundRect">
            <a:avLst>
              <a:gd name="adj" fmla="val 4032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3986784"/>
            <a:ext cx="3478682" cy="41148"/>
          </a:xfrm>
          <a:prstGeom prst="rect">
            <a:avLst/>
          </a:prstGeom>
          <a:solidFill>
            <a:srgbClr val="F0C550"/>
          </a:solidFill>
          <a:ln/>
        </p:spPr>
      </p:sp>
      <p:sp>
        <p:nvSpPr>
          <p:cNvPr id="28" name="Text 25"/>
          <p:cNvSpPr/>
          <p:nvPr/>
        </p:nvSpPr>
        <p:spPr>
          <a:xfrm>
            <a:off x="859536" y="4133088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Judgments &amp; Doctrines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59536" y="4489704"/>
            <a:ext cx="311292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&amp; Learn deck, reached from the student hub.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56506" y="3986784"/>
            <a:ext cx="3478682" cy="1133856"/>
          </a:xfrm>
          <a:prstGeom prst="roundRect">
            <a:avLst>
              <a:gd name="adj" fmla="val 4032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56506" y="3986784"/>
            <a:ext cx="3478682" cy="41148"/>
          </a:xfrm>
          <a:prstGeom prst="rect">
            <a:avLst/>
          </a:prstGeom>
          <a:solidFill>
            <a:srgbClr val="6A6560"/>
          </a:solidFill>
          <a:ln/>
        </p:spPr>
      </p:sp>
      <p:sp>
        <p:nvSpPr>
          <p:cNvPr id="32" name="Text 29"/>
          <p:cNvSpPr/>
          <p:nvPr/>
        </p:nvSpPr>
        <p:spPr>
          <a:xfrm>
            <a:off x="4557674" y="4133088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Internships &amp; Placements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4557674" y="4489704"/>
            <a:ext cx="311292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 — not live yet.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054645" y="3986784"/>
            <a:ext cx="3478682" cy="1133856"/>
          </a:xfrm>
          <a:prstGeom prst="roundRect">
            <a:avLst>
              <a:gd name="adj" fmla="val 4032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54645" y="3986784"/>
            <a:ext cx="3478682" cy="41148"/>
          </a:xfrm>
          <a:prstGeom prst="rect">
            <a:avLst/>
          </a:prstGeom>
          <a:solidFill>
            <a:srgbClr val="6A6560"/>
          </a:solidFill>
          <a:ln/>
        </p:spPr>
      </p:sp>
      <p:sp>
        <p:nvSpPr>
          <p:cNvPr id="36" name="Text 33"/>
          <p:cNvSpPr/>
          <p:nvPr/>
        </p:nvSpPr>
        <p:spPr>
          <a:xfrm>
            <a:off x="8255813" y="4133088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CLAT / Judicial Exam Prep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255813" y="4489704"/>
            <a:ext cx="311292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 — not live yet.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58368" y="5358384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2688" y="5431536"/>
            <a:ext cx="10326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cards are marked coming soon.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visible so you know they are planned. Do not build a class around them yet.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6.2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Moot Court Memorial Builder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1664208"/>
            <a:ext cx="1041775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Future Lawyer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Moot Court Memorial Builder.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2212848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212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194560"/>
            <a:ext cx="1041775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competition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it on the memorial. Optional.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2743200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743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5568" y="2724912"/>
            <a:ext cx="1041775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side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Petitioner / Applicant · Respondent / Defence · Prosecution.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3273552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3273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5568" y="3255264"/>
            <a:ext cx="1041775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full moot proposition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box.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58368" y="3803904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803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15568" y="3785616"/>
            <a:ext cx="1041775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statement of facts, issues, arguments and prayer, plus suggested authorities.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58368" y="4553712"/>
            <a:ext cx="10874959" cy="1072896"/>
          </a:xfrm>
          <a:prstGeom prst="roundRect">
            <a:avLst>
              <a:gd name="adj" fmla="val 5114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2688" y="4626864"/>
            <a:ext cx="10326319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as the first draft, never the final one. Have students mark up what the AI got wrong — a weak issue framing, an argument that does not follow, a prayer asking for relief the court cannot grant. Correcting a competent-looking draft is a harder and more useful exercise than starting from a blank page, and it teaches the scepticism they will need anyway.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6.2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Roadmap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664208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tracks, laid out year by year through the degree — with what to do in each year, and where each one leads.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8368" y="2212848"/>
            <a:ext cx="3478682" cy="868680"/>
          </a:xfrm>
          <a:prstGeom prst="roundRect">
            <a:avLst>
              <a:gd name="adj" fmla="val 526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12848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235915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 Practice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56506" y="2212848"/>
            <a:ext cx="3478682" cy="868680"/>
          </a:xfrm>
          <a:prstGeom prst="roundRect">
            <a:avLst>
              <a:gd name="adj" fmla="val 526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56506" y="2212848"/>
            <a:ext cx="3478682" cy="41148"/>
          </a:xfrm>
          <a:prstGeom prst="rect">
            <a:avLst/>
          </a:prstGeom>
          <a:solidFill>
            <a:srgbClr val="F0C550"/>
          </a:solidFill>
          <a:ln/>
        </p:spPr>
      </p:sp>
      <p:sp>
        <p:nvSpPr>
          <p:cNvPr id="16" name="Text 13"/>
          <p:cNvSpPr/>
          <p:nvPr/>
        </p:nvSpPr>
        <p:spPr>
          <a:xfrm>
            <a:off x="4557674" y="235915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/ Law-Firm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54645" y="2212848"/>
            <a:ext cx="3478682" cy="868680"/>
          </a:xfrm>
          <a:prstGeom prst="roundRect">
            <a:avLst>
              <a:gd name="adj" fmla="val 526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54645" y="2212848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19" name="Text 16"/>
          <p:cNvSpPr/>
          <p:nvPr/>
        </p:nvSpPr>
        <p:spPr>
          <a:xfrm>
            <a:off x="8255813" y="2359152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Judicial Services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" y="3300984"/>
            <a:ext cx="3478682" cy="868680"/>
          </a:xfrm>
          <a:prstGeom prst="roundRect">
            <a:avLst>
              <a:gd name="adj" fmla="val 526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3300984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22" name="Text 19"/>
          <p:cNvSpPr/>
          <p:nvPr/>
        </p:nvSpPr>
        <p:spPr>
          <a:xfrm>
            <a:off x="859536" y="3447288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Abroad / Academia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356506" y="3300984"/>
            <a:ext cx="3478682" cy="868680"/>
          </a:xfrm>
          <a:prstGeom prst="roundRect">
            <a:avLst>
              <a:gd name="adj" fmla="val 526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56506" y="3300984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25" name="Text 22"/>
          <p:cNvSpPr/>
          <p:nvPr/>
        </p:nvSpPr>
        <p:spPr>
          <a:xfrm>
            <a:off x="4557674" y="3447288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Services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054645" y="3300984"/>
            <a:ext cx="3478682" cy="868680"/>
          </a:xfrm>
          <a:prstGeom prst="roundRect">
            <a:avLst>
              <a:gd name="adj" fmla="val 5263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54645" y="3300984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Text 25"/>
          <p:cNvSpPr/>
          <p:nvPr/>
        </p:nvSpPr>
        <p:spPr>
          <a:xfrm>
            <a:off x="8255813" y="3447288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Counsel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58368" y="4407408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2688" y="4480560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page to put on the projector during a careers session. It answers the question first-year students actually ask — not “what is the law”, but “what happens to me after this”.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253935" y="822960"/>
            <a:ext cx="42976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College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3822192"/>
            <a:ext cx="1737360" cy="320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069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faculty co-ordinators. Students, batches and usage in one screen.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College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73152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104177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1041775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Faculty → My college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2633472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633472"/>
            <a:ext cx="3478682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277977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59536" y="3136392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college’s name, whether the plan is active, and the date it runs until. If it is not active it says so in red, and students cannot join.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56506" y="2633472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6506" y="2633472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20" name="Text 17"/>
          <p:cNvSpPr/>
          <p:nvPr/>
        </p:nvSpPr>
        <p:spPr>
          <a:xfrm>
            <a:off x="4557674" y="277977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up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57674" y="3136392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students on your list have actually logged in. The number worth watching in the first fortnight.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54645" y="2633472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54645" y="2633472"/>
            <a:ext cx="3478682" cy="41148"/>
          </a:xfrm>
          <a:prstGeom prst="rect">
            <a:avLst/>
          </a:prstGeom>
          <a:solidFill>
            <a:srgbClr val="5FCC8D"/>
          </a:solidFill>
          <a:ln/>
        </p:spPr>
      </p:sp>
      <p:sp>
        <p:nvSpPr>
          <p:cNvPr id="24" name="Text 21"/>
          <p:cNvSpPr/>
          <p:nvPr/>
        </p:nvSpPr>
        <p:spPr>
          <a:xfrm>
            <a:off x="8255813" y="2779776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this month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255813" y="3136392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used the app in the last thirty days.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8368" y="3931920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3931920"/>
            <a:ext cx="3478682" cy="41148"/>
          </a:xfrm>
          <a:prstGeom prst="rect">
            <a:avLst/>
          </a:prstGeom>
          <a:solidFill>
            <a:srgbClr val="F0C550"/>
          </a:solidFill>
          <a:ln/>
        </p:spPr>
      </p:sp>
      <p:sp>
        <p:nvSpPr>
          <p:cNvPr id="28" name="Text 25"/>
          <p:cNvSpPr/>
          <p:nvPr/>
        </p:nvSpPr>
        <p:spPr>
          <a:xfrm>
            <a:off x="859536" y="4078224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made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59536" y="4434840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generated by your students.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356506" y="3931920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56506" y="3931920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32" name="Text 29"/>
          <p:cNvSpPr/>
          <p:nvPr/>
        </p:nvSpPr>
        <p:spPr>
          <a:xfrm>
            <a:off x="4557674" y="4078224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batch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4557674" y="4434840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numbers broken down — so you can see BA LLB 2027 is using it and 2028 is not.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054645" y="3931920"/>
            <a:ext cx="3478682" cy="1078992"/>
          </a:xfrm>
          <a:prstGeom prst="roundRect">
            <a:avLst>
              <a:gd name="adj" fmla="val 4237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54645" y="3931920"/>
            <a:ext cx="3478682" cy="41148"/>
          </a:xfrm>
          <a:prstGeom prst="rect">
            <a:avLst/>
          </a:prstGeom>
          <a:solidFill>
            <a:srgbClr val="7FB2F0"/>
          </a:solidFill>
          <a:ln/>
        </p:spPr>
      </p:sp>
      <p:sp>
        <p:nvSpPr>
          <p:cNvPr id="36" name="Text 33"/>
          <p:cNvSpPr/>
          <p:nvPr/>
        </p:nvSpPr>
        <p:spPr>
          <a:xfrm>
            <a:off x="8255813" y="4078224"/>
            <a:ext cx="311292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list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255813" y="4434840"/>
            <a:ext cx="31129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student, with a dot showing who has been active this month, and a marker on staff accounts.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58368" y="524865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2688" y="532180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it?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Faculty group only appears once your account is marked as your college’s co-ordinator. Email support — it is done the same day.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students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1664208"/>
            <a:ext cx="1041775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 Excel file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student, with these columns: email, password, name, batch.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2194560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176272"/>
            <a:ext cx="1041775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in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upload it yourself if you have console access.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2706624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706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5568" y="2688336"/>
            <a:ext cx="1041775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gets an account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3218688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3218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5568" y="3200400"/>
            <a:ext cx="10417759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set their own credentials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password and security question, at first sign-in. The spreadsheet password is only for that first login.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58368" y="3950208"/>
            <a:ext cx="10874959" cy="1072896"/>
          </a:xfrm>
          <a:prstGeom prst="roundRect">
            <a:avLst>
              <a:gd name="adj" fmla="val 5114"/>
            </a:avLst>
          </a:prstGeom>
          <a:solidFill>
            <a:srgbClr val="FF8A80">
              <a:alpha val="8000"/>
            </a:srgbClr>
          </a:solidFill>
          <a:ln w="12700">
            <a:solidFill>
              <a:srgbClr val="FF8A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4023360"/>
            <a:ext cx="10326319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whole list every time.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add fifteen students in March, send the full current list — the originals and the fifteen new ones — not just the fifteen. The import reads the file as the state of the batch, so a partial list is read as a shrunken batch.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58368" y="5260848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2688" y="5334000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trial ends,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access stops but nothing is deleted. Accounts stay, documents stay — and the moment the college converts, every student has Pro again with no second sign-up.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253935" y="822960"/>
            <a:ext cx="42976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account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3822192"/>
            <a:ext cx="1737360" cy="320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069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password, recovery, plan and data — seven sections, top to bottom.</a:t>
            </a:r>
            <a:endParaRPr lang="en-US" sz="1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account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16161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0292" cy="6217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176479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19933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→ You → Account</a:t>
            </a:r>
            <a:endParaRPr lang="en-US" sz="1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633472"/>
          <a:ext cx="10874959" cy="914400"/>
        </p:xfrm>
        <a:graphic>
          <a:graphicData uri="http://schemas.openxmlformats.org/drawingml/2006/table">
            <a:tbl>
              <a:tblPr/>
              <a:tblGrid>
                <a:gridCol w="2609990"/>
                <a:gridCol w="826496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full name — the one on your dashboard and your drafts. Email is shown but cannot be changed; it is your login.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password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password, new password, confirm.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recovery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a security question and set an answer. Do this if you have not already.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&amp; usage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or Pro, and how many documents you have generated this month.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college you are linked to — or where you join one.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&amp; notifications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language, and whether you get email and push notifications.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everything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all your data — every document, client and court date — in one file.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this account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Permanent. It does what it says.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253935" y="822960"/>
            <a:ext cx="42976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A–C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Appendices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3822192"/>
            <a:ext cx="1737360" cy="320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069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twenty document types, the seven languages, and what to do when something breaks.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twenty document types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64208"/>
          <a:ext cx="10874959" cy="914400"/>
        </p:xfrm>
        <a:graphic>
          <a:graphicData uri="http://schemas.openxmlformats.org/drawingml/2006/table">
            <a:tbl>
              <a:tblPr/>
              <a:tblGrid>
                <a:gridCol w="2827489"/>
                <a:gridCol w="804747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PRODUCES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Notice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notice demanding action or remedy under Indian law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Brief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IRAC summary of legal arguments and precedents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Legally binding agreement — property, service, business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 or criminal petition to district or subordinate courts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Memorandum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analysis, opinion and actionable recommendations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 Petition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Court writ under Article 226 — Certiorari, Mandamus, Habeas Corpus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Vakalatnama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 letter appointing an advocate to appear in court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Bail 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or anticipatory bail under CrPC — district court or High Court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 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stay or injunction against an order or proceeding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Affidavit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Sworn statement of facts for court or official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58368" y="576072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→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twenty document types  (continued)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64208"/>
          <a:ext cx="10874959" cy="914400"/>
        </p:xfrm>
        <a:graphic>
          <a:graphicData uri="http://schemas.openxmlformats.org/drawingml/2006/table">
            <a:tbl>
              <a:tblPr/>
              <a:tblGrid>
                <a:gridCol w="2827489"/>
                <a:gridCol w="804747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PRODUCES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Interest Litigation — High Court under Article 226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RTI 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under the Right to Information Act, 2005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Complaint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to a Consumer Forum under the Consumer Protection Act, 2019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Divorce Petition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the Hindu Marriage Act or the Special Marriage 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Agreement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or commercial rental or lease agreement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Deed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sale or conveyance deed under the Transfer of Property 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Cheque Bounce Notice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under Section 138 of the Negotiable Instruments 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Opinion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legal opinion or advice memorandum on a legal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 Complaint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complaint to a police station under Section 154 CrPC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Draft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or legal email, ready to paste into Gmail or Outlook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 drafting languages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64208"/>
          <a:ext cx="10874959" cy="914400"/>
        </p:xfrm>
        <a:graphic>
          <a:graphicData uri="http://schemas.openxmlformats.org/drawingml/2006/table">
            <a:tbl>
              <a:tblPr/>
              <a:tblGrid>
                <a:gridCol w="3044989"/>
                <a:gridCol w="782997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 THE RIGHT CHOICE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Courts and formal proceedings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हिन्दी  (Hindi)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courts and revenue matters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Bilingual (EN + HI)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body, Hindi headings and prayer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اردو  (Urdu)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Jammu &amp; Kashmir, and courts keeping records in Urdu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தமிழ்  (Tamil)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Nadu district courts and local matters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తెలుగు  (Telugu)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 and Telangana courts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ಕನ್ನಡ  (Kannada)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district and taluk courts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58368" y="4974336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32688" y="5047488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translation layer.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language carries the court vocabulary that language actually uses — a Kannada petition says ಅರ್ಜಿದಾರ, not a literal rendering of “petitioner”.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something goes wrong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64208"/>
          <a:ext cx="10874959" cy="914400"/>
        </p:xfrm>
        <a:graphic>
          <a:graphicData uri="http://schemas.openxmlformats.org/drawingml/2006/table">
            <a:tbl>
              <a:tblPr/>
              <a:tblGrid>
                <a:gridCol w="2936239"/>
                <a:gridCol w="7938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AND WHAT TO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out on your 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Someone signed in with your account elsewhere — usually you, on your phone. One device at a time. Sign in again.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“Upgrade to Pro” appears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on the free plan. Check Account → College. If it does not name your college, you are not linked yet — email support.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 have used your documents”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free plan allows two per calendar month. It resets on the first. Pro removes the limit.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slow or failed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busy period. Wait a minute and press Generate again — the form keeps everything you typed.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your password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Sign-in screen → Forgot password → answer your security question. There is no emailed reset link.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set a security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support before you need it. Once locked out there is no self-service route back.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see “My college”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group is only for faculty co-ordinators. Ask us to mark your account.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citation looks wrong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it. Citations under Legal Research and Case Law &amp; Status link to the original — click through. The Case Assistant gives none, by design.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4709160"/>
            <a:ext cx="3291840" cy="1042416"/>
          </a:xfrm>
          <a:prstGeom prst="diamond">
            <a:avLst/>
          </a:prstGeom>
          <a:solidFill>
            <a:srgbClr val="D4A017">
              <a:alpha val="22000"/>
            </a:srgbClr>
          </a:solidFill>
          <a:ln w="9525">
            <a:solidFill>
              <a:srgbClr val="D4A017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33258" y="4248302"/>
            <a:ext cx="2918765" cy="921715"/>
          </a:xfrm>
          <a:prstGeom prst="diamond">
            <a:avLst/>
          </a:prstGeom>
          <a:solidFill>
            <a:srgbClr val="F2F0EA">
              <a:alpha val="12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97850" y="3831336"/>
            <a:ext cx="2589581" cy="822960"/>
          </a:xfrm>
          <a:prstGeom prst="diamond">
            <a:avLst/>
          </a:prstGeom>
          <a:solidFill>
            <a:srgbClr val="F2F0EA">
              <a:alpha val="9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62442" y="3436315"/>
            <a:ext cx="2260397" cy="724205"/>
          </a:xfrm>
          <a:prstGeom prst="diamond">
            <a:avLst/>
          </a:prstGeom>
          <a:solidFill>
            <a:srgbClr val="F2F0EA">
              <a:alpha val="6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6646" y="2295144"/>
            <a:ext cx="811987" cy="1053389"/>
          </a:xfrm>
          <a:prstGeom prst="roundRect">
            <a:avLst>
              <a:gd name="adj" fmla="val 5631"/>
            </a:avLst>
          </a:prstGeom>
          <a:solidFill>
            <a:srgbClr val="E8E2D2">
              <a:alpha val="40000"/>
            </a:srgbClr>
          </a:solidFill>
          <a:ln w="12700">
            <a:solidFill>
              <a:srgbClr val="D4A01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6646" y="2295144"/>
            <a:ext cx="811987" cy="142646"/>
          </a:xfrm>
          <a:prstGeom prst="rect">
            <a:avLst/>
          </a:prstGeom>
          <a:solidFill>
            <a:srgbClr val="D4A01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407347" y="2591410"/>
            <a:ext cx="570586" cy="35113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07347" y="2739542"/>
            <a:ext cx="570586" cy="35113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407347" y="2887675"/>
            <a:ext cx="570586" cy="35113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07347" y="3035808"/>
            <a:ext cx="313822" cy="35113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69450" y="3019349"/>
            <a:ext cx="208483" cy="208483"/>
          </a:xfrm>
          <a:prstGeom prst="ellipse">
            <a:avLst/>
          </a:prstGeom>
          <a:solidFill>
            <a:srgbClr val="D4A017">
              <a:alpha val="60000"/>
            </a:srgbClr>
          </a:solidFill>
          <a:ln w="9525">
            <a:solidFill>
              <a:srgbClr val="D4A017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86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4600" dirty="0"/>
          </a:p>
        </p:txBody>
      </p:sp>
      <p:sp>
        <p:nvSpPr>
          <p:cNvPr id="15" name="Shape 13"/>
          <p:cNvSpPr/>
          <p:nvPr/>
        </p:nvSpPr>
        <p:spPr>
          <a:xfrm>
            <a:off x="658368" y="3200400"/>
            <a:ext cx="201168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4747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your email address, your college, and what you were doing when it went wrong. A screenshot answers most questions on the first reply.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support.lexforge@gmail.com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lexforge-ai.vercel.app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LexForge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LexForge AI — Faculty Deck</dc:title>
  <dc:subject>Every service in the app, and how to reach it</dc:subject>
  <dc:creator>LexForge AI</dc:creator>
  <cp:lastModifiedBy>LexForge AI</cp:lastModifiedBy>
  <cp:revision>1</cp:revision>
  <dcterms:created xsi:type="dcterms:W3CDTF">2026-08-29T13:00:49Z</dcterms:created>
  <dcterms:modified xsi:type="dcterms:W3CDTF">2026-08-29T13:00:49Z</dcterms:modified>
</cp:coreProperties>
</file>