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sentence that matters: every general-purpose AI can write something that looks like a legal document. The entire question in this market is whether the citations are real. That is the only thing we optimised for, and it is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this slide. The fabricated-citation problem is the reason the product exists and the reason the moat is defensible. Courts in several jurisdictions have now sanctioned lawyers who filed AI-generated citations that did not exist. In law, a made-up citation is not a typo — it is professional misconduct.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it is orientation, not the pitch. The point is that the same grounded engine serves a practitioner and a student, which is why one product can sell into both markets without being rebuilt.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here was counted from the repository, not estimated. Say that out loud — investors hear a lot of decks about products that do not exist yet. Offer a live demo on the spot; the product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in the deck. The insight: asking a model to self-assess its own certainty does not work, because a fabricated citation is exactly the case where the model is confident and wrong at the same time. So we removed the model’s discretion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theme: most of the engineering effort went into stopping the model doing things, not making it do more. That is unusual, hard to retrofit, and exactly what a regulated profession will pay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them out loud — the number is the argument. This is also the college deck’s centrepiece, so you can hand a Principal the same list. The point for an investor is that this is twelve separate habit loops, not one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version of this argument: we are not claiming students love us. We are claiming that by month twelve their own work product lives here, and they are about to walk into a chamber where drafting speed decides whether they are kept on. That is switching cost plus career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to flag. First, a college pays less per head than an individual — that is deliberate, it is the reason for a college to fund it rather than leave students to buy their own. Second, nothing auto-renews: Razorpay subscriptions need eMandate approval that is refused to accounts with no history, so plans are prepaid and extend the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on this slide is arithmetic from the published rate card — there is no assumed conversion rate hidden in it. The only variable is the seat count, and that is the number you negotiate.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built from two inputs you can attack rather than a headline TAM. If an investor disputes either number the whole slide re-computes in front of them, which is a much better conversation than defending a figure from a report nobody has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mechanical detail that makes college-first work: a student signing up with a college email domain is linked and granted access with nobody doing anything. And because many Indian colleges issue no student email at all, there is a second path by pre-authorised invite — otherwise domain matching would exclude exactly the students least able to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weaknesses. An investor will find all four anyway, and finding them yourself is the cheapest credibility available in a first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deliberately soft. You are not raising money in this meeting — you are converting the meeting into a pilot and a critic. Both are worth more right now than a term sheet, and asking for them makes the eventual raise easier because you will have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7795260" y="4663440"/>
            <a:ext cx="3703320" cy="1172718"/>
          </a:xfrm>
          <a:prstGeom prst="diamond">
            <a:avLst/>
          </a:prstGeom>
          <a:solidFill>
            <a:srgbClr val="D4A017">
              <a:alpha val="22000"/>
            </a:srgbClr>
          </a:solidFill>
          <a:ln w="9525">
            <a:solidFill>
              <a:srgbClr val="D4A017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5115" y="4144975"/>
            <a:ext cx="3283610" cy="1036930"/>
          </a:xfrm>
          <a:prstGeom prst="diamond">
            <a:avLst/>
          </a:prstGeom>
          <a:solidFill>
            <a:srgbClr val="F2F0EA">
              <a:alpha val="12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0281" y="3675888"/>
            <a:ext cx="2913278" cy="925830"/>
          </a:xfrm>
          <a:prstGeom prst="diamond">
            <a:avLst/>
          </a:prstGeom>
          <a:solidFill>
            <a:srgbClr val="F2F0EA">
              <a:alpha val="9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447" y="3231490"/>
            <a:ext cx="2542946" cy="814730"/>
          </a:xfrm>
          <a:prstGeom prst="diamond">
            <a:avLst/>
          </a:prstGeom>
          <a:solidFill>
            <a:srgbClr val="F2F0EA">
              <a:alpha val="6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90177" y="1947672"/>
            <a:ext cx="913486" cy="1185062"/>
          </a:xfrm>
          <a:prstGeom prst="roundRect">
            <a:avLst>
              <a:gd name="adj" fmla="val 5005"/>
            </a:avLst>
          </a:prstGeom>
          <a:solidFill>
            <a:srgbClr val="E8E2D2">
              <a:alpha val="40000"/>
            </a:srgbClr>
          </a:solidFill>
          <a:ln w="12700">
            <a:solidFill>
              <a:srgbClr val="D4A01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90177" y="1947672"/>
            <a:ext cx="913486" cy="160477"/>
          </a:xfrm>
          <a:prstGeom prst="rect">
            <a:avLst/>
          </a:prstGeom>
          <a:solidFill>
            <a:srgbClr val="D4A01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25966" y="2280971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25966" y="2447620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5966" y="2614270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25966" y="2780919"/>
            <a:ext cx="353050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33331" y="2762402"/>
            <a:ext cx="234544" cy="234544"/>
          </a:xfrm>
          <a:prstGeom prst="ellipse">
            <a:avLst/>
          </a:prstGeom>
          <a:solidFill>
            <a:srgbClr val="D4A017">
              <a:alpha val="60000"/>
            </a:srgbClr>
          </a:solidFill>
          <a:ln w="9525">
            <a:solidFill>
              <a:srgbClr val="D4A017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TECHNOLOGY · INDIA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48256"/>
            <a:ext cx="768096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200" kern="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LexForge AI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658368" y="2977896"/>
            <a:ext cx="219456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197352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drafting engine that refuses to invent a citation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166616"/>
            <a:ext cx="694944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Court-ready Indian legal documents in under a minute — grounded in retrieved judgments, with an automated test that proves no case name came from the model’s imagination.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lexforge-ai.vercel.app</a:t>
            </a:r>
            <a:pPr indent="0" marL="0">
              <a:buNone/>
            </a:pPr>
            <a:r>
              <a:rPr lang="en-US" sz="12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support.lexforge@gmail.com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AI has a truth problem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5300320" cy="233172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3970">
            <a:solidFill>
              <a:srgbClr val="FF8A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" y="1828800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AI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121408"/>
            <a:ext cx="482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Confident, fluent, and sometimes wrong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2688336"/>
            <a:ext cx="482483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case names that sound entirely plausible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real judgments against the wrong proposition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 you which parts it was unsure about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citation filed in court is misconduct, not a bug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33008" y="1664208"/>
            <a:ext cx="5300320" cy="233172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3970">
            <a:solidFill>
              <a:srgbClr val="5FCC8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70752" y="1828800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PRACTITIONER NEEDS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70752" y="2121408"/>
            <a:ext cx="482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Verifiable, or explicitly absent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470752" y="2688336"/>
            <a:ext cx="482483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authority traceable to a real reported judgment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where the index found nothing — not a plausible guess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user’s own facts reproduced exactly, never paraphrased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Blanks marked as blanks, so nothing is quietly filled in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423367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430682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whole game.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easy and every competitor will have it. Being trustworthy enough to file is the part that takes engineering — and it is what a lawyer is actually buying.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surfaces, one legal engine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3478682" cy="1920240"/>
          </a:xfrm>
          <a:prstGeom prst="roundRect">
            <a:avLst>
              <a:gd name="adj" fmla="val 2381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" y="181051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2286000"/>
            <a:ext cx="31129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Indian document types — notice, petition, writ, bail, PIL, vakalatnama, sale deed, RTI, consumer complaint and more. Court-ready formatting, exported to PDF or DOCX.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56506" y="1664208"/>
            <a:ext cx="3478682" cy="1920240"/>
          </a:xfrm>
          <a:prstGeom prst="roundRect">
            <a:avLst>
              <a:gd name="adj" fmla="val 2381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57674" y="181051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57674" y="2286000"/>
            <a:ext cx="31129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Act search and full text, case-law search and status, and 6 analysers that read an order and build the appeal, counter, amendment or compliance report from it.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54645" y="1664208"/>
            <a:ext cx="3478682" cy="1920240"/>
          </a:xfrm>
          <a:prstGeom prst="roundRect">
            <a:avLst>
              <a:gd name="adj" fmla="val 2381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55813" y="181051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55813" y="2286000"/>
            <a:ext cx="31129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hub: AI legal Q&amp;A, a moot memorial builder, 50+ landmark judgments, an AI tutor, quizzes and a career roadmap.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" y="382219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7FB2F0">
              <a:alpha val="8000"/>
            </a:srgbClr>
          </a:solidFill>
          <a:ln w="12700">
            <a:solidFill>
              <a:srgbClr val="7FB2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2688" y="389534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7F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two buyers.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practitioner pays for speed. The college pays for the same engine as a teaching instrument. Neither required a separate product to be built.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built, not described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2567864" cy="1417320"/>
          </a:xfrm>
          <a:prstGeom prst="roundRect">
            <a:avLst>
              <a:gd name="adj" fmla="val 3226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792224"/>
            <a:ext cx="2384984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2425700"/>
            <a:ext cx="234840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types, each with its own intake form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27400" y="1664208"/>
            <a:ext cx="2567864" cy="1417320"/>
          </a:xfrm>
          <a:prstGeom prst="roundRect">
            <a:avLst>
              <a:gd name="adj" fmla="val 3226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18840" y="1792224"/>
            <a:ext cx="2384984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3537128" y="2425700"/>
            <a:ext cx="234840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routes in production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96432" y="1664208"/>
            <a:ext cx="2567864" cy="1417320"/>
          </a:xfrm>
          <a:prstGeom prst="roundRect">
            <a:avLst>
              <a:gd name="adj" fmla="val 3226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87872" y="1792224"/>
            <a:ext cx="2384984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6306160" y="2425700"/>
            <a:ext cx="234840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judgment analysers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965463" y="1664208"/>
            <a:ext cx="2567864" cy="1417320"/>
          </a:xfrm>
          <a:prstGeom prst="roundRect">
            <a:avLst>
              <a:gd name="adj" fmla="val 3226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56903" y="1792224"/>
            <a:ext cx="2384984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9075191" y="2425700"/>
            <a:ext cx="234840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languages, with real court vocabulary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" y="3319272"/>
            <a:ext cx="2567864" cy="1417320"/>
          </a:xfrm>
          <a:prstGeom prst="roundRect">
            <a:avLst>
              <a:gd name="adj" fmla="val 3226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447288"/>
            <a:ext cx="2384984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37,600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" y="4080764"/>
            <a:ext cx="234840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application code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427400" y="3319272"/>
            <a:ext cx="2567864" cy="1417320"/>
          </a:xfrm>
          <a:prstGeom prst="roundRect">
            <a:avLst>
              <a:gd name="adj" fmla="val 3226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18840" y="3447288"/>
            <a:ext cx="2384984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400" dirty="0"/>
          </a:p>
        </p:txBody>
      </p:sp>
      <p:sp>
        <p:nvSpPr>
          <p:cNvPr id="27" name="Text 24"/>
          <p:cNvSpPr txBox="1"/>
          <p:nvPr/>
        </p:nvSpPr>
        <p:spPr>
          <a:xfrm>
            <a:off x="3537128" y="4080764"/>
            <a:ext cx="234840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suites, run by one command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96432" y="3319272"/>
            <a:ext cx="2567864" cy="1417320"/>
          </a:xfrm>
          <a:prstGeom prst="roundRect">
            <a:avLst>
              <a:gd name="adj" fmla="val 3226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87872" y="3447288"/>
            <a:ext cx="2384984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119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6306160" y="4080764"/>
            <a:ext cx="234840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since April 2026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965463" y="3319272"/>
            <a:ext cx="2567864" cy="1417320"/>
          </a:xfrm>
          <a:prstGeom prst="roundRect">
            <a:avLst>
              <a:gd name="adj" fmla="val 3226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56903" y="3447288"/>
            <a:ext cx="2384984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400" dirty="0"/>
          </a:p>
        </p:txBody>
      </p:sp>
      <p:sp>
        <p:nvSpPr>
          <p:cNvPr id="33" name="Text 30"/>
          <p:cNvSpPr txBox="1"/>
          <p:nvPr/>
        </p:nvSpPr>
        <p:spPr>
          <a:xfrm>
            <a:off x="9075191" y="4080764"/>
            <a:ext cx="234840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judgments, structured for teaching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58368" y="497433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7FB2F0">
              <a:alpha val="8000"/>
            </a:srgbClr>
          </a:solidFill>
          <a:ln w="12700">
            <a:solidFill>
              <a:srgbClr val="7FB2F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32688" y="504748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7F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traction claimed.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live paying users yet, and nothing in this deck pretends there are. What exists is a finished product and a pilot ready to run.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 are retrieved, never recalled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1664208"/>
            <a:ext cx="10417759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first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judgments are pulled from the legal index before a single word is drafted.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2267712"/>
            <a:ext cx="10417759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from the list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given those judgments and works only from them.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2889504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2871216"/>
            <a:ext cx="10417759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nothing rather than guess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search returned nothing, the draft says so instead of inventing an authority to fill the gap.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3474720"/>
            <a:ext cx="10417759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in CI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verify:grounding asserts that every case name in a generated draft traces back to the retrieved index or a human-curated list — never to the model’s recall.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58368" y="4315968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" y="4389120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codebase, not the brochure: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old rule told the model to name a judgment only if you are certain. That is self-assessment — the model is confident and wrong at the same time, which is exactly what a fabricated citation is.”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Restraint, enforced in code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3478682" cy="1481328"/>
          </a:xfrm>
          <a:prstGeom prst="roundRect">
            <a:avLst>
              <a:gd name="adj" fmla="val 308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" y="181051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fidelity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2212848"/>
            <a:ext cx="31129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dates and amounts are reproduced verbatim. The model is forbidden from paraphrasing a party’s name or rounding a figure.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56506" y="1664208"/>
            <a:ext cx="3478682" cy="1481328"/>
          </a:xfrm>
          <a:prstGeom prst="roundRect">
            <a:avLst>
              <a:gd name="adj" fmla="val 308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57674" y="181051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Bracketed blanks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57674" y="2212848"/>
            <a:ext cx="31129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field becomes [TO BE FILLED], visible on the page. It is never silently invented so the document looks complete.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54645" y="1664208"/>
            <a:ext cx="3478682" cy="1481328"/>
          </a:xfrm>
          <a:prstGeom prst="roundRect">
            <a:avLst>
              <a:gd name="adj" fmla="val 308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55813" y="181051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rejected at the door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55813" y="2212848"/>
            <a:ext cx="31129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“NA”, “no”, “don’t know”, “-” are stripped before they reach the prompt, and a form that is entirely junk is refused outright.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3364992"/>
            <a:ext cx="3478682" cy="1481328"/>
          </a:xfrm>
          <a:prstGeom prst="roundRect">
            <a:avLst>
              <a:gd name="adj" fmla="val 308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9536" y="3511296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are auditable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" y="3913632"/>
            <a:ext cx="31129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 feature list is treated as a contractual promise. An overstated line is a consumer-law problem, so the list describes only what ships.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56506" y="3364992"/>
            <a:ext cx="3478682" cy="1481328"/>
          </a:xfrm>
          <a:prstGeom prst="roundRect">
            <a:avLst>
              <a:gd name="adj" fmla="val 308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57674" y="3511296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cites nothing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57674" y="3913632"/>
            <a:ext cx="31129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assistant gives no citations by design — it was the surface where self-assessed confidence failed first.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054645" y="3364992"/>
            <a:ext cx="3478682" cy="1481328"/>
          </a:xfrm>
          <a:prstGeom prst="roundRect">
            <a:avLst>
              <a:gd name="adj" fmla="val 308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55813" y="3511296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stay lawful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55813" y="3913632"/>
            <a:ext cx="31129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sites that disallow crawling are not crawled, and the CAPTCHA-protected cause list is not bypassed. Checked by an automated suite.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reasons a law student opens 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52396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181051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real documents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31972" y="166420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6000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3633140" y="181051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law question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05576" y="166420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99603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6406744" y="181051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moot memorial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979179" y="166420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573207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9180347" y="181051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landmark judgments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8368" y="267004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252396" y="270662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" y="281635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doctrines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431972" y="267004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6000" y="270662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400" dirty="0"/>
          </a:p>
        </p:txBody>
      </p:sp>
      <p:sp>
        <p:nvSpPr>
          <p:cNvPr id="27" name="Text 24"/>
          <p:cNvSpPr txBox="1"/>
          <p:nvPr/>
        </p:nvSpPr>
        <p:spPr>
          <a:xfrm>
            <a:off x="3633140" y="281635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tutor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205576" y="267004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99603" y="270662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6406744" y="281635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with quizzes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979179" y="267004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573207" y="270662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400" dirty="0"/>
          </a:p>
        </p:txBody>
      </p:sp>
      <p:sp>
        <p:nvSpPr>
          <p:cNvPr id="33" name="Text 30"/>
          <p:cNvSpPr txBox="1"/>
          <p:nvPr/>
        </p:nvSpPr>
        <p:spPr>
          <a:xfrm>
            <a:off x="9180347" y="281635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career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58368" y="367588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252396" y="371246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400" dirty="0"/>
          </a:p>
        </p:txBody>
      </p:sp>
      <p:sp>
        <p:nvSpPr>
          <p:cNvPr id="36" name="Text 33"/>
          <p:cNvSpPr txBox="1"/>
          <p:nvPr/>
        </p:nvSpPr>
        <p:spPr>
          <a:xfrm>
            <a:off x="859536" y="382219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Bare Acts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431972" y="367588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026000" y="371246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39" name="Text 36"/>
          <p:cNvSpPr txBox="1"/>
          <p:nvPr/>
        </p:nvSpPr>
        <p:spPr>
          <a:xfrm>
            <a:off x="3633140" y="382219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case law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205576" y="367588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99603" y="371246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400" dirty="0"/>
          </a:p>
        </p:txBody>
      </p:sp>
      <p:sp>
        <p:nvSpPr>
          <p:cNvPr id="42" name="Text 39"/>
          <p:cNvSpPr txBox="1"/>
          <p:nvPr/>
        </p:nvSpPr>
        <p:spPr>
          <a:xfrm>
            <a:off x="6406744" y="382219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 real order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8979179" y="3675888"/>
            <a:ext cx="2554148" cy="786384"/>
          </a:xfrm>
          <a:prstGeom prst="roundRect">
            <a:avLst>
              <a:gd name="adj" fmla="val 581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573207" y="371246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400" dirty="0"/>
          </a:p>
        </p:txBody>
      </p:sp>
      <p:sp>
        <p:nvSpPr>
          <p:cNvPr id="45" name="Text 42"/>
          <p:cNvSpPr txBox="1"/>
          <p:nvPr/>
        </p:nvSpPr>
        <p:spPr>
          <a:xfrm>
            <a:off x="9180347" y="3822192"/>
            <a:ext cx="150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clients and dates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58368" y="470001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32688" y="477316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entry points, one account.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inside: PDF and DOCX export, version history, 7 drafting languages and a mobile app. Every one of these is live today.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year two is the student’s own decision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166420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college pays. The student uses it because a teacher told them to.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23113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221284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memorials, case briefs and drafts accumulate inside the account. It becomes where their work lives.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277977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276148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take it into an internship. It stops being coursework and becomes the tool they are judged on.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331012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means abandoning their own archive and the drafting speed a senior is now timing them against.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58368" y="409651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" y="416966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that closes it: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₹2,250 a month against the value of a single brief kept rather than lost. The student is not buying software — they are buying the version of themselves that drafts in twenty minutes instead of two days.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Prepaid, per seat, nothing auto-debits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64208"/>
          <a:ext cx="10874959" cy="914400"/>
        </p:xfrm>
        <a:graphic>
          <a:graphicData uri="http://schemas.openxmlformats.org/drawingml/2006/table">
            <a:tbl>
              <a:tblPr/>
              <a:tblGrid>
                <a:gridCol w="4349984"/>
                <a:gridCol w="1957493"/>
                <a:gridCol w="2392491"/>
                <a:gridCol w="21749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BUYING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 YEARLY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THAT IS PER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— advocate or 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₹2,000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 — per enrolled 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₹1,800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₹21,600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58368" y="3163824"/>
            <a:ext cx="10874959" cy="2192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100"/>
              </a:lnSpc>
              <a:buSzPct val="100000"/>
              <a:buChar char="–"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seat, not a flat licence.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with forty active students is not billed like one with four hundred.</a:t>
            </a:r>
            <a:endParaRPr lang="en-US" sz="1350" dirty="0"/>
          </a:p>
          <a:p>
            <a:pPr marL="203200" indent="-203200">
              <a:lnSpc>
                <a:spcPts val="2100"/>
              </a:lnSpc>
              <a:buSzPct val="100000"/>
              <a:buChar char="–"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time-boxed.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that has ended stops granting access without anyone remembering to switch it off.</a:t>
            </a:r>
            <a:endParaRPr lang="en-US" sz="1350" dirty="0"/>
          </a:p>
          <a:p>
            <a:pPr marL="203200" indent="-203200">
              <a:lnSpc>
                <a:spcPts val="2100"/>
              </a:lnSpc>
              <a:buSzPct val="100000"/>
              <a:buChar char="–"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Renewing early adds to the term.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before expiry never costs a user the days they already bought.</a:t>
            </a:r>
            <a:endParaRPr lang="en-US" sz="1350" dirty="0"/>
          </a:p>
          <a:p>
            <a:pPr marL="203200" indent="-203200">
              <a:lnSpc>
                <a:spcPts val="2100"/>
              </a:lnSpc>
              <a:buSzPct val="100000"/>
              <a:buChar char="–"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tier is real but bounded.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documents a calendar month and roughly 1,200 words a draft; paid removes both.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one college is worth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3490874" cy="1572768"/>
          </a:xfrm>
          <a:prstGeom prst="roundRect">
            <a:avLst>
              <a:gd name="adj" fmla="val 290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792224"/>
            <a:ext cx="330799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₹12.96L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2459736"/>
            <a:ext cx="327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60-seat pilot cohort, at the yearly rate, over twelve months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50410" y="1664208"/>
            <a:ext cx="3490874" cy="1572768"/>
          </a:xfrm>
          <a:prstGeom prst="roundRect">
            <a:avLst>
              <a:gd name="adj" fmla="val 290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41850" y="1792224"/>
            <a:ext cx="330799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₹64.80L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4460138" y="2459736"/>
            <a:ext cx="327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300-student college, same rate, same period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2453" y="1664208"/>
            <a:ext cx="3490874" cy="1572768"/>
          </a:xfrm>
          <a:prstGeom prst="roundRect">
            <a:avLst>
              <a:gd name="adj" fmla="val 290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33893" y="1792224"/>
            <a:ext cx="330799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₹21,600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8152181" y="2459736"/>
            <a:ext cx="327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per year — the only unit that matters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8368" y="3474720"/>
            <a:ext cx="10874959" cy="1072896"/>
          </a:xfrm>
          <a:prstGeom prst="roundRect">
            <a:avLst>
              <a:gd name="adj" fmla="val 5114"/>
            </a:avLst>
          </a:prstGeom>
          <a:solidFill>
            <a:srgbClr val="7FB2F0">
              <a:alpha val="8000"/>
            </a:srgbClr>
          </a:solidFill>
          <a:ln w="12700">
            <a:solidFill>
              <a:srgbClr val="7FB2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2688" y="3547872"/>
            <a:ext cx="10326319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7F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honestly.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list-price arithmetic, not forecasts. No college has signed yet. The pilot exists precisely to find out what a real institution will actually pay and to produce the reference that makes the second sale cheaper than the first.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Sized from the bottom up, assumptions on the table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64208"/>
          <a:ext cx="10874959" cy="914400"/>
        </p:xfrm>
        <a:graphic>
          <a:graphicData uri="http://schemas.openxmlformats.org/drawingml/2006/table">
            <a:tbl>
              <a:tblPr/>
              <a:tblGrid>
                <a:gridCol w="4349984"/>
                <a:gridCol w="2609990"/>
                <a:gridCol w="391498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BCI-approved law colleges in 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 — verify before quoting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enrolled students per college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 — varies widely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Addressable students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the two rows above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student per 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₹21,600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rate card, lib/billing.js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58368" y="3913632"/>
            <a:ext cx="3490874" cy="1280160"/>
          </a:xfrm>
          <a:prstGeom prst="roundRect">
            <a:avLst>
              <a:gd name="adj" fmla="val 357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9808" y="4041648"/>
            <a:ext cx="3307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₹11 cr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768096" y="4663440"/>
            <a:ext cx="3271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1% of law students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50410" y="3913632"/>
            <a:ext cx="3490874" cy="1280160"/>
          </a:xfrm>
          <a:prstGeom prst="roundRect">
            <a:avLst>
              <a:gd name="adj" fmla="val 357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441850" y="4041648"/>
            <a:ext cx="3307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₹55 cr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460138" y="4663440"/>
            <a:ext cx="3271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5% of law students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42453" y="3913632"/>
            <a:ext cx="3490874" cy="1280160"/>
          </a:xfrm>
          <a:prstGeom prst="roundRect">
            <a:avLst>
              <a:gd name="adj" fmla="val 357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133893" y="4041648"/>
            <a:ext cx="3307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₹6.5 cr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8152181" y="4663440"/>
            <a:ext cx="3271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ten colleges of 300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Colleges first, because enrolment is automatic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1664208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one college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single-semester pilot with a defined cohort. Costs us compute, not sales headcount.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267712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2249424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without administration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on the college domain are linked automatically; the rest by spreadsheet import or invite.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2852928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2834640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reference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Principal who has seen a cohort through a semester is the only credible sales asset in Indian education.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438144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3419856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the graduate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who leaves keeps the account and pays the individual rate. The college paid for the acquisition.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58368" y="424281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" y="431596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folder is already built.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GST non-registration declaration, a DPDP data-protection undertaking and a rate card, all on letterhead — the three papers a college accounts department asks for before it will raise a purchase order.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list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5300320" cy="2286000"/>
          </a:xfrm>
          <a:prstGeom prst="roundRect">
            <a:avLst>
              <a:gd name="adj" fmla="val 2400"/>
            </a:avLst>
          </a:prstGeom>
          <a:solidFill>
            <a:srgbClr val="161616"/>
          </a:solidFill>
          <a:ln w="13970">
            <a:solidFill>
              <a:srgbClr val="5FCC8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" y="1828800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121408"/>
            <a:ext cx="482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testable today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2688336"/>
            <a:ext cx="482483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product, running in production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citations with an automated proof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invoicing and institution management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papers a college will ask for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33008" y="1664208"/>
            <a:ext cx="5300320" cy="2286000"/>
          </a:xfrm>
          <a:prstGeom prst="roundRect">
            <a:avLst>
              <a:gd name="adj" fmla="val 2400"/>
            </a:avLst>
          </a:prstGeom>
          <a:solidFill>
            <a:srgbClr val="161616"/>
          </a:solidFill>
          <a:ln w="13970">
            <a:solidFill>
              <a:srgbClr val="FF8A8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70752" y="1828800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70752" y="2121408"/>
            <a:ext cx="482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open about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470752" y="2688336"/>
            <a:ext cx="482483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paying customers and no signed pilot yet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untested against a real purchase order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argued from first principles, not measured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one founder, not a sales team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418795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426110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exactly what the next six months are for.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pilot, run properly, converts three of those four unknowns into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7795260" y="4663440"/>
            <a:ext cx="3703320" cy="1172718"/>
          </a:xfrm>
          <a:prstGeom prst="diamond">
            <a:avLst/>
          </a:prstGeom>
          <a:solidFill>
            <a:srgbClr val="D4A017">
              <a:alpha val="22000"/>
            </a:srgbClr>
          </a:solidFill>
          <a:ln w="9525">
            <a:solidFill>
              <a:srgbClr val="D4A017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5115" y="4144975"/>
            <a:ext cx="3283610" cy="1036930"/>
          </a:xfrm>
          <a:prstGeom prst="diamond">
            <a:avLst/>
          </a:prstGeom>
          <a:solidFill>
            <a:srgbClr val="F2F0EA">
              <a:alpha val="12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0281" y="3675888"/>
            <a:ext cx="2913278" cy="925830"/>
          </a:xfrm>
          <a:prstGeom prst="diamond">
            <a:avLst/>
          </a:prstGeom>
          <a:solidFill>
            <a:srgbClr val="F2F0EA">
              <a:alpha val="9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447" y="3231490"/>
            <a:ext cx="2542946" cy="814730"/>
          </a:xfrm>
          <a:prstGeom prst="diamond">
            <a:avLst/>
          </a:prstGeom>
          <a:solidFill>
            <a:srgbClr val="F2F0EA">
              <a:alpha val="6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90177" y="1947672"/>
            <a:ext cx="913486" cy="1185062"/>
          </a:xfrm>
          <a:prstGeom prst="roundRect">
            <a:avLst>
              <a:gd name="adj" fmla="val 5005"/>
            </a:avLst>
          </a:prstGeom>
          <a:solidFill>
            <a:srgbClr val="E8E2D2">
              <a:alpha val="40000"/>
            </a:srgbClr>
          </a:solidFill>
          <a:ln w="12700">
            <a:solidFill>
              <a:srgbClr val="D4A01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90177" y="1947672"/>
            <a:ext cx="913486" cy="160477"/>
          </a:xfrm>
          <a:prstGeom prst="rect">
            <a:avLst/>
          </a:prstGeom>
          <a:solidFill>
            <a:srgbClr val="D4A01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25966" y="2280971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25966" y="2447620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5966" y="2614270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25966" y="2780919"/>
            <a:ext cx="353050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33331" y="2762402"/>
            <a:ext cx="234544" cy="234544"/>
          </a:xfrm>
          <a:prstGeom prst="ellipse">
            <a:avLst/>
          </a:prstGeom>
          <a:solidFill>
            <a:srgbClr val="D4A017">
              <a:alpha val="60000"/>
            </a:srgbClr>
          </a:solidFill>
          <a:ln w="9525">
            <a:solidFill>
              <a:srgbClr val="D4A017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ASKING FOR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48256"/>
            <a:ext cx="768096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200" kern="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introductions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658368" y="2977896"/>
            <a:ext cx="219456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19735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an hour of your judgement — not a cheque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764280"/>
            <a:ext cx="694944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a law college Principal or Dean who would run a free semester pilot. An introduction to a practising advocate willing to break the drafting engine on real matters. And your view on the pricing before it is quoted to an institution for the first time.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lexforge-ai.vercel.app</a:t>
            </a:r>
            <a:pPr indent="0" marL="0">
              <a:buNone/>
            </a:pPr>
            <a:r>
              <a:rPr lang="en-US" sz="12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support.lexforge@gmail.com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LexForge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LexForge AI — Investor Deck</dc:title>
  <dc:subject>Indian legal drafting that will not invent a citation</dc:subject>
  <dc:creator>LexForge AI</dc:creator>
  <cp:lastModifiedBy>LexForge AI</cp:lastModifiedBy>
  <cp:revision>1</cp:revision>
  <dcterms:created xsi:type="dcterms:W3CDTF">2026-09-02T04:14:13Z</dcterms:created>
  <dcterms:modified xsi:type="dcterms:W3CDTF">2026-09-02T04:14:13Z</dcterms:modified>
</cp:coreProperties>
</file>